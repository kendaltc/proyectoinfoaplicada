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p:restoredTop sz="84605"/>
  </p:normalViewPr>
  <p:slideViewPr>
    <p:cSldViewPr snapToGrid="0" snapToObjects="1">
      <p:cViewPr>
        <p:scale>
          <a:sx n="109" d="100"/>
          <a:sy n="109" d="100"/>
        </p:scale>
        <p:origin x="154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5D7175"/>
                </a:solidFill>
                <a:latin typeface="Calibri"/>
              </a:defRPr>
            </a:pPr>
            <a:r>
              <a:rPr lang="en-US" sz="1400" b="0" i="0" u="none" strike="noStrike">
                <a:solidFill>
                  <a:srgbClr val="5D7175"/>
                </a:solidFill>
                <a:latin typeface="Calibri"/>
              </a:rPr>
              <a:t>Casos por variante (top 5)</a:t>
            </a:r>
          </a:p>
        </c:rich>
      </c:tx>
      <c:overlay val="0"/>
    </c:title>
    <c:autoTitleDeleted val="0"/>
    <c:plotArea>
      <c:layout/>
      <c:barChart>
        <c:barDir val="bar"/>
        <c:grouping val="clustered"/>
        <c:varyColors val="0"/>
        <c:ser>
          <c:idx val="0"/>
          <c:order val="0"/>
          <c:tx>
            <c:strRef>
              <c:f>Sheet1!$B$1</c:f>
              <c:strCache>
                <c:ptCount val="1"/>
                <c:pt idx="0">
                  <c:v>Casos</c:v>
                </c:pt>
              </c:strCache>
            </c:strRef>
          </c:tx>
          <c:spPr>
            <a:solidFill>
              <a:srgbClr val="1F8A8A"/>
            </a:solidFill>
            <a:effectLst/>
          </c:spPr>
          <c:invertIfNegative val="0"/>
          <c:dLbls>
            <c:numFmt formatCode="#,##0" sourceLinked="0"/>
            <c:spPr>
              <a:noFill/>
              <a:ln>
                <a:noFill/>
              </a:ln>
              <a:effectLst/>
            </c:spPr>
            <c:txPr>
              <a:bodyPr/>
              <a:lstStyle/>
              <a:p>
                <a:pPr>
                  <a:defRPr sz="1400" b="0" i="0" u="none" strike="noStrike">
                    <a:solidFill>
                      <a:srgbClr val="1B2B2E"/>
                    </a:solidFill>
                    <a:latin typeface="Calibri"/>
                  </a:defRPr>
                </a:pPr>
                <a:endParaRPr lang="en-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Vuelo estándar</c:v>
                </c:pt>
                <c:pt idx="1">
                  <c:v>#2 Auto de alquiler</c:v>
                </c:pt>
                <c:pt idx="2">
                  <c:v>#3 Sin aprobación</c:v>
                </c:pt>
                <c:pt idx="3">
                  <c:v>#4 Tren</c:v>
                </c:pt>
                <c:pt idx="4">
                  <c:v>#5 Sin Book Lodging</c:v>
                </c:pt>
              </c:strCache>
            </c:strRef>
          </c:cat>
          <c:val>
            <c:numRef>
              <c:f>Sheet1!$B$2:$B$6</c:f>
              <c:numCache>
                <c:formatCode>General</c:formatCode>
                <c:ptCount val="5"/>
                <c:pt idx="0">
                  <c:v>30304</c:v>
                </c:pt>
                <c:pt idx="1">
                  <c:v>12989</c:v>
                </c:pt>
                <c:pt idx="2">
                  <c:v>2774</c:v>
                </c:pt>
                <c:pt idx="3">
                  <c:v>2189</c:v>
                </c:pt>
                <c:pt idx="4">
                  <c:v>1673</c:v>
                </c:pt>
              </c:numCache>
            </c:numRef>
          </c:val>
          <c:extLst>
            <c:ext xmlns:c16="http://schemas.microsoft.com/office/drawing/2014/chart" uri="{C3380CC4-5D6E-409C-BE32-E72D297353CC}">
              <c16:uniqueId val="{00000000-8B7A-0B41-8BDE-EFAE582AE3F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B2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kg CO2e</c:v>
                </c:pt>
              </c:strCache>
            </c:strRef>
          </c:tx>
          <c:spPr>
            <a:solidFill>
              <a:schemeClr val="accent1"/>
            </a:solidFill>
            <a:ln w="9525" cap="flat">
              <a:solidFill>
                <a:srgbClr val="F9F9F9"/>
              </a:solidFill>
              <a:prstDash val="solid"/>
              <a:round/>
            </a:ln>
            <a:effectLst/>
          </c:spPr>
          <c:dPt>
            <c:idx val="0"/>
            <c:bubble3D val="0"/>
            <c:spPr>
              <a:solidFill>
                <a:srgbClr val="1F8A8A"/>
              </a:solidFill>
              <a:ln w="25400" cap="flat">
                <a:solidFill>
                  <a:srgbClr val="FFFFFF"/>
                </a:solidFill>
                <a:prstDash val="solid"/>
                <a:round/>
              </a:ln>
              <a:effectLst/>
            </c:spPr>
            <c:extLst>
              <c:ext xmlns:c16="http://schemas.microsoft.com/office/drawing/2014/chart" uri="{C3380CC4-5D6E-409C-BE32-E72D297353CC}">
                <c16:uniqueId val="{00000001-3F6A-C741-8A23-E4115DA8D7DE}"/>
              </c:ext>
            </c:extLst>
          </c:dPt>
          <c:dPt>
            <c:idx val="1"/>
            <c:bubble3D val="0"/>
            <c:spPr>
              <a:solidFill>
                <a:srgbClr val="E8912D"/>
              </a:solidFill>
              <a:ln w="25400" cap="flat">
                <a:solidFill>
                  <a:srgbClr val="FFFFFF"/>
                </a:solidFill>
                <a:prstDash val="solid"/>
                <a:round/>
              </a:ln>
              <a:effectLst/>
            </c:spPr>
            <c:extLst>
              <c:ext xmlns:c16="http://schemas.microsoft.com/office/drawing/2014/chart" uri="{C3380CC4-5D6E-409C-BE32-E72D297353CC}">
                <c16:uniqueId val="{00000003-3F6A-C741-8A23-E4115DA8D7DE}"/>
              </c:ext>
            </c:extLst>
          </c:dPt>
          <c:cat>
            <c:strRef>
              <c:f>Sheet1!$A$2:$A$3</c:f>
              <c:strCache>
                <c:ptCount val="2"/>
                <c:pt idx="0">
                  <c:v>Transporte</c:v>
                </c:pt>
                <c:pt idx="1">
                  <c:v>Hotel</c:v>
                </c:pt>
              </c:strCache>
            </c:strRef>
          </c:cat>
          <c:val>
            <c:numRef>
              <c:f>Sheet1!$B$2:$B$3</c:f>
              <c:numCache>
                <c:formatCode>General</c:formatCode>
                <c:ptCount val="2"/>
                <c:pt idx="0">
                  <c:v>226715208.63</c:v>
                </c:pt>
                <c:pt idx="1">
                  <c:v>6495952.0999999996</c:v>
                </c:pt>
              </c:numCache>
            </c:numRef>
          </c:val>
          <c:extLst>
            <c:ext xmlns:c16="http://schemas.microsoft.com/office/drawing/2014/chart" uri="{C3380CC4-5D6E-409C-BE32-E72D297353CC}">
              <c16:uniqueId val="{00000004-3F6A-C741-8A23-E4115DA8D7DE}"/>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400">
              <a:solidFill>
                <a:srgbClr val="1B2B2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D7175"/>
                </a:solidFill>
                <a:latin typeface="Calibri"/>
              </a:defRPr>
            </a:pPr>
            <a:r>
              <a:rPr lang="en-US" sz="1300" b="0" i="0" u="none" strike="noStrike">
                <a:solidFill>
                  <a:srgbClr val="5D7175"/>
                </a:solidFill>
                <a:latin typeface="Calibri"/>
              </a:rPr>
              <a:t>kg CO2e por unidad de negocio (millones)</a:t>
            </a:r>
          </a:p>
        </c:rich>
      </c:tx>
      <c:overlay val="0"/>
    </c:title>
    <c:autoTitleDeleted val="0"/>
    <c:plotArea>
      <c:layout/>
      <c:barChart>
        <c:barDir val="bar"/>
        <c:grouping val="clustered"/>
        <c:varyColors val="0"/>
        <c:ser>
          <c:idx val="0"/>
          <c:order val="0"/>
          <c:tx>
            <c:strRef>
              <c:f>Sheet1!$B$1</c:f>
              <c:strCache>
                <c:ptCount val="1"/>
                <c:pt idx="0">
                  <c:v>kg CO2e</c:v>
                </c:pt>
              </c:strCache>
            </c:strRef>
          </c:tx>
          <c:spPr>
            <a:solidFill>
              <a:srgbClr val="1F8A8A"/>
            </a:solidFill>
            <a:effectLst/>
          </c:spPr>
          <c:invertIfNegative val="0"/>
          <c:dLbls>
            <c:numFmt formatCode="0.0,,&quot;M&quot;" sourceLinked="0"/>
            <c:spPr>
              <a:noFill/>
              <a:ln>
                <a:noFill/>
              </a:ln>
              <a:effectLst/>
            </c:spPr>
            <c:txPr>
              <a:bodyPr/>
              <a:lstStyle/>
              <a:p>
                <a:pPr>
                  <a:defRPr sz="1200" b="0" i="0" u="none" strike="noStrike">
                    <a:solidFill>
                      <a:srgbClr val="1B2B2E"/>
                    </a:solidFill>
                    <a:latin typeface="Arial"/>
                  </a:defRPr>
                </a:pPr>
                <a:endParaRPr lang="en-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Sales</c:v>
                </c:pt>
                <c:pt idx="1">
                  <c:v>Marketing</c:v>
                </c:pt>
                <c:pt idx="2">
                  <c:v>Value Engineering</c:v>
                </c:pt>
                <c:pt idx="3">
                  <c:v>Customer Support</c:v>
                </c:pt>
                <c:pt idx="4">
                  <c:v>Executive Management</c:v>
                </c:pt>
                <c:pt idx="5">
                  <c:v>Ecosystem</c:v>
                </c:pt>
                <c:pt idx="6">
                  <c:v>Services</c:v>
                </c:pt>
                <c:pt idx="7">
                  <c:v>Operations</c:v>
                </c:pt>
                <c:pt idx="8">
                  <c:v>Legal</c:v>
                </c:pt>
                <c:pt idx="9">
                  <c:v>Office Management</c:v>
                </c:pt>
                <c:pt idx="10">
                  <c:v>Engineering</c:v>
                </c:pt>
                <c:pt idx="11">
                  <c:v>Finance</c:v>
                </c:pt>
                <c:pt idx="12">
                  <c:v>Product Management</c:v>
                </c:pt>
                <c:pt idx="13">
                  <c:v>Sustainability</c:v>
                </c:pt>
              </c:strCache>
            </c:strRef>
          </c:cat>
          <c:val>
            <c:numRef>
              <c:f>Sheet1!$B$2:$B$15</c:f>
              <c:numCache>
                <c:formatCode>General</c:formatCode>
                <c:ptCount val="14"/>
                <c:pt idx="0">
                  <c:v>78412703.420000002</c:v>
                </c:pt>
                <c:pt idx="1">
                  <c:v>43526827.090000004</c:v>
                </c:pt>
                <c:pt idx="2">
                  <c:v>22565611.399999999</c:v>
                </c:pt>
                <c:pt idx="3">
                  <c:v>19282887.699999999</c:v>
                </c:pt>
                <c:pt idx="4">
                  <c:v>16736255.25</c:v>
                </c:pt>
                <c:pt idx="5">
                  <c:v>13022159.470000001</c:v>
                </c:pt>
                <c:pt idx="6">
                  <c:v>11588893.310000001</c:v>
                </c:pt>
                <c:pt idx="7">
                  <c:v>9531565.7699999996</c:v>
                </c:pt>
                <c:pt idx="8">
                  <c:v>5763074.3300000001</c:v>
                </c:pt>
                <c:pt idx="9">
                  <c:v>4991423.3899999997</c:v>
                </c:pt>
                <c:pt idx="10">
                  <c:v>3272932.68</c:v>
                </c:pt>
                <c:pt idx="11">
                  <c:v>2561494.85</c:v>
                </c:pt>
                <c:pt idx="12">
                  <c:v>1698200.07</c:v>
                </c:pt>
                <c:pt idx="13">
                  <c:v>257132</c:v>
                </c:pt>
              </c:numCache>
            </c:numRef>
          </c:val>
          <c:extLst>
            <c:ext xmlns:c16="http://schemas.microsoft.com/office/drawing/2014/chart" uri="{C3380CC4-5D6E-409C-BE32-E72D297353CC}">
              <c16:uniqueId val="{00000000-0AF8-F642-818C-97F8DF0EB068}"/>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B2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de los tramos</c:v>
                </c:pt>
              </c:strCache>
            </c:strRef>
          </c:tx>
          <c:spPr>
            <a:solidFill>
              <a:srgbClr val="1F8A8A"/>
            </a:solidFill>
            <a:effectLst/>
          </c:spPr>
          <c:invertIfNegative val="0"/>
          <c:dLbls>
            <c:numFmt formatCode="0.00" sourceLinked="0"/>
            <c:spPr>
              <a:noFill/>
              <a:ln>
                <a:noFill/>
              </a:ln>
              <a:effectLst/>
            </c:spPr>
            <c:txPr>
              <a:bodyPr/>
              <a:lstStyle/>
              <a:p>
                <a:pPr>
                  <a:defRPr sz="1200" b="0" i="0" u="none" strike="noStrike">
                    <a:solidFill>
                      <a:srgbClr val="1B2B2E"/>
                    </a:solidFill>
                    <a:latin typeface="Arial"/>
                  </a:defRPr>
                </a:pPr>
                <a:endParaRPr lang="en-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Economy</c:v>
                </c:pt>
                <c:pt idx="1">
                  <c:v>Business</c:v>
                </c:pt>
                <c:pt idx="2">
                  <c:v>First</c:v>
                </c:pt>
                <c:pt idx="3">
                  <c:v>Tren</c:v>
                </c:pt>
                <c:pt idx="4">
                  <c:v>Autos (5 tipos)</c:v>
                </c:pt>
              </c:strCache>
            </c:strRef>
          </c:cat>
          <c:val>
            <c:numRef>
              <c:f>Sheet1!$B$2:$B$6</c:f>
              <c:numCache>
                <c:formatCode>General</c:formatCode>
                <c:ptCount val="5"/>
                <c:pt idx="0">
                  <c:v>64.83</c:v>
                </c:pt>
                <c:pt idx="1">
                  <c:v>27.69</c:v>
                </c:pt>
                <c:pt idx="2">
                  <c:v>1.64</c:v>
                </c:pt>
                <c:pt idx="3">
                  <c:v>2.61</c:v>
                </c:pt>
                <c:pt idx="4">
                  <c:v>3.23</c:v>
                </c:pt>
              </c:numCache>
            </c:numRef>
          </c:val>
          <c:extLst>
            <c:ext xmlns:c16="http://schemas.microsoft.com/office/drawing/2014/chart" uri="{C3380CC4-5D6E-409C-BE32-E72D297353CC}">
              <c16:uniqueId val="{00000000-E7DD-8F44-88EE-A638C6930929}"/>
            </c:ext>
          </c:extLst>
        </c:ser>
        <c:ser>
          <c:idx val="1"/>
          <c:order val="1"/>
          <c:tx>
            <c:strRef>
              <c:f>Sheet1!$C$1</c:f>
              <c:strCache>
                <c:ptCount val="1"/>
                <c:pt idx="0">
                  <c:v>% del CO2 de transporte</c:v>
                </c:pt>
              </c:strCache>
            </c:strRef>
          </c:tx>
          <c:spPr>
            <a:solidFill>
              <a:srgbClr val="E8912D"/>
            </a:solidFill>
            <a:effectLst/>
          </c:spPr>
          <c:invertIfNegative val="0"/>
          <c:dLbls>
            <c:numFmt formatCode="0.00" sourceLinked="0"/>
            <c:spPr>
              <a:noFill/>
              <a:ln>
                <a:noFill/>
              </a:ln>
              <a:effectLst/>
            </c:spPr>
            <c:txPr>
              <a:bodyPr/>
              <a:lstStyle/>
              <a:p>
                <a:pPr>
                  <a:defRPr sz="1200" b="0" i="0" u="none" strike="noStrike">
                    <a:solidFill>
                      <a:srgbClr val="1B2B2E"/>
                    </a:solidFill>
                    <a:latin typeface="Arial"/>
                  </a:defRPr>
                </a:pPr>
                <a:endParaRPr lang="en-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Economy</c:v>
                </c:pt>
                <c:pt idx="1">
                  <c:v>Business</c:v>
                </c:pt>
                <c:pt idx="2">
                  <c:v>First</c:v>
                </c:pt>
                <c:pt idx="3">
                  <c:v>Tren</c:v>
                </c:pt>
                <c:pt idx="4">
                  <c:v>Autos (5 tipos)</c:v>
                </c:pt>
              </c:strCache>
            </c:strRef>
          </c:cat>
          <c:val>
            <c:numRef>
              <c:f>Sheet1!$C$2:$C$6</c:f>
              <c:numCache>
                <c:formatCode>General</c:formatCode>
                <c:ptCount val="5"/>
                <c:pt idx="0">
                  <c:v>46.07</c:v>
                </c:pt>
                <c:pt idx="1">
                  <c:v>49.06</c:v>
                </c:pt>
                <c:pt idx="2">
                  <c:v>4.1900000000000004</c:v>
                </c:pt>
                <c:pt idx="3">
                  <c:v>7.0000000000000007E-2</c:v>
                </c:pt>
                <c:pt idx="4">
                  <c:v>0.6</c:v>
                </c:pt>
              </c:numCache>
            </c:numRef>
          </c:val>
          <c:extLst>
            <c:ext xmlns:c16="http://schemas.microsoft.com/office/drawing/2014/chart" uri="{C3380CC4-5D6E-409C-BE32-E72D297353CC}">
              <c16:uniqueId val="{00000001-E7DD-8F44-88EE-A638C693092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B2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300">
              <a:solidFill>
                <a:srgbClr val="1B2B2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5D7175"/>
                </a:solidFill>
                <a:latin typeface="Calibri"/>
              </a:defRPr>
            </a:pPr>
            <a:r>
              <a:rPr lang="en-US" sz="1500" b="0" i="0" u="none" strike="noStrike">
                <a:solidFill>
                  <a:srgbClr val="5D7175"/>
                </a:solidFill>
                <a:latin typeface="Calibri"/>
              </a:rPr>
              <a:t>% de viajes con Business o First en el primer tramo</a:t>
            </a:r>
          </a:p>
        </c:rich>
      </c:tx>
      <c:overlay val="0"/>
    </c:title>
    <c:autoTitleDeleted val="0"/>
    <c:plotArea>
      <c:layout/>
      <c:barChart>
        <c:barDir val="col"/>
        <c:grouping val="clustered"/>
        <c:varyColors val="0"/>
        <c:ser>
          <c:idx val="0"/>
          <c:order val="0"/>
          <c:tx>
            <c:strRef>
              <c:f>Sheet1!$B$1</c:f>
              <c:strCache>
                <c:ptCount val="1"/>
                <c:pt idx="0">
                  <c:v>% de viajes</c:v>
                </c:pt>
              </c:strCache>
            </c:strRef>
          </c:tx>
          <c:spPr>
            <a:solidFill>
              <a:srgbClr val="1F8A8A"/>
            </a:solidFill>
            <a:effectLst/>
          </c:spPr>
          <c:invertIfNegative val="0"/>
          <c:dPt>
            <c:idx val="0"/>
            <c:invertIfNegative val="0"/>
            <c:bubble3D val="0"/>
            <c:extLst>
              <c:ext xmlns:c16="http://schemas.microsoft.com/office/drawing/2014/chart" uri="{C3380CC4-5D6E-409C-BE32-E72D297353CC}">
                <c16:uniqueId val="{00000001-69DC-9346-AD20-41DE3BE0DC72}"/>
              </c:ext>
            </c:extLst>
          </c:dPt>
          <c:dPt>
            <c:idx val="1"/>
            <c:invertIfNegative val="0"/>
            <c:bubble3D val="0"/>
            <c:spPr>
              <a:solidFill>
                <a:srgbClr val="E8912D"/>
              </a:solidFill>
              <a:effectLst/>
            </c:spPr>
            <c:extLst>
              <c:ext xmlns:c16="http://schemas.microsoft.com/office/drawing/2014/chart" uri="{C3380CC4-5D6E-409C-BE32-E72D297353CC}">
                <c16:uniqueId val="{00000003-69DC-9346-AD20-41DE3BE0DC72}"/>
              </c:ext>
            </c:extLst>
          </c:dPt>
          <c:dLbls>
            <c:numFmt formatCode="0.00&quot;%&quot;" sourceLinked="0"/>
            <c:spPr>
              <a:noFill/>
              <a:ln>
                <a:noFill/>
              </a:ln>
              <a:effectLst/>
            </c:spPr>
            <c:txPr>
              <a:bodyPr/>
              <a:lstStyle/>
              <a:p>
                <a:pPr>
                  <a:defRPr sz="2000" b="1" i="0" u="none" strike="noStrike">
                    <a:solidFill>
                      <a:srgbClr val="1B2B2E"/>
                    </a:solidFill>
                    <a:latin typeface="Arial"/>
                  </a:defRPr>
                </a:pPr>
                <a:endParaRPr lang="en-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Dentro de política (No)</c:v>
                </c:pt>
                <c:pt idx="1">
                  <c:v>OutOfPolicy (Yes)</c:v>
                </c:pt>
              </c:strCache>
            </c:strRef>
          </c:cat>
          <c:val>
            <c:numRef>
              <c:f>Sheet1!$B$2:$B$3</c:f>
              <c:numCache>
                <c:formatCode>General</c:formatCode>
                <c:ptCount val="2"/>
                <c:pt idx="0">
                  <c:v>21.85</c:v>
                </c:pt>
                <c:pt idx="1">
                  <c:v>68.84</c:v>
                </c:pt>
              </c:numCache>
            </c:numRef>
          </c:val>
          <c:extLst>
            <c:ext xmlns:c16="http://schemas.microsoft.com/office/drawing/2014/chart" uri="{C3380CC4-5D6E-409C-BE32-E72D297353CC}">
              <c16:uniqueId val="{00000004-69DC-9346-AD20-41DE3BE0DC7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B2B2E"/>
                </a:solidFill>
                <a:latin typeface="Calibri"/>
              </a:defRPr>
            </a:pPr>
            <a:endParaRPr lang="en-US"/>
          </a:p>
        </c:txPr>
        <c:crossAx val="2094734552"/>
        <c:crosses val="autoZero"/>
        <c:auto val="1"/>
        <c:lblAlgn val="ctr"/>
        <c:lblOffset val="100"/>
        <c:noMultiLvlLbl val="1"/>
      </c:catAx>
      <c:valAx>
        <c:axId val="2094734552"/>
        <c:scaling>
          <c:orientation val="minMax"/>
          <c:max val="8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813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Buenos días. Somos el equipo de IF-6201: Kendall Trejos, Mariangel Arias, Gabriel Montero, Sebastian Alfaro y yo, Alejandro Arias. Les presento el Avance 1 sobre viajes de negocio y huella de carbono. La idea de hoy es mostrar que entendemos el reto, los datos, el proceso y el plan, antes de empezar a analizar.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La empresa se comprometió a llegar a Net Zero en 2030 y descubrió que la mayoría de sus emisiones son Scope 3, es decir indirectas, y que vienen de los viajes de negocio de sus empleados. El proceso de reserva es descentralizado: cada persona reserva por su cuenta priorizando costo y conveniencia. El reto tiene tres pilares: P1, meter métricas de carbono en la reserva y la aprobación; P2, automatizar las validaciones de política; y P3, tener una contabilidad de carbono clara. Todo nuestro plan de preguntas se conecta con estos tres pilares.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Trabajamos con cuatro data-sets, más el diccionario de datos. Trip_Data es la tabla maestra: una fila por viaje, 87,053 viajes, con origen, destino, propósito, unidad de negocio, costo y emisiones. Transportations tiene una fila por tramo: 99,925 tramos, porque un viaje puede tener uno, dos o tres. El Event Log tiene 895,366 eventos y 34 actividades: es lo que analizamos en Celonis. Attributes tiene una fila por viaje con razones de cambios, cancelaciones y reembolsos. Todos se unen por TripID. Para minería de procesos, el Case ID es TripID, la actividad es EventName y el timestamp es EventTimestamp. Los datos cubren de diciembre de 2023 a junio de 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Este es el proceso que muestra Celonis, en su vista simplificada: 10 de las 34 actividades. Empieza con la reserva del transporte y del hospedaje, luego la solicitud de viaje y su aprobación, la confirmación, el viaje, y al final la solicitud y el reembolso de gastos. El 96.42% de los casos llega a la aprobación; el 3.58% se queda en la solicitud. Algo importante: según el diccionario, la solicitud va después de la reserva porque así funciona el sistema que usa la empresa, Navan. Entonces la aprobación revisa decisiones que ya se tomaron, y eso importa para el pilar 1: cualquier métrica de carbono tiene que mostrarse en el momento de reservar.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Celonis identifica 402 variantes, y nuestro cálculo independiente da los mismos conteos. La principal, el flujo estándar con vuelo, cubre solo el 35% de los casos: 30,304 viajes. La segunda es el mismo flujo pero con auto de alquiler; la tercera son 2,774 viajes que nunca se aprueban; la cuarta usa tren; y la quinta es el flujo estándar sin reservar hospedaje. Las 5 principales suman 57.35%. El tiempo de ciclo, del primer al último evento, tiene mediana de 24 días y percentil 90 de 33 días.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Esta es la respuesta preliminar a la pregunta 1. El programa de viajes emite 233,211 toneladas de CO2 equivalente, unos 2.7 toneladas por viaje. El 97.21% viene del transporte y solo el 2.79% del hotel; es decir, la reducción está en cómo se viaja, no en dónde se duerme. Por unidad de negocio, Sales y Marketing suman más de la mitad: 52.29%. Esto es hotel más transporte, en kilogramos de CO2e.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Aquí vemos los modos de transporte. Los vuelos son 94.16% de los tramos y 99.33% del CO2 de transporte. Business y First juntos son menos del 30% de los tramos pero más de la mitad del CO2: 53.25%. El tren casi no se usa: 2.61% de los tramos y apenas 0.07% del CO2. A la derecha, las cinco rutas principales concentran el 53% del CO2; por ejemplo, Sydney a Los Angeles solo es el 16.38%. Esto es lo que nos va a guiar para buscar quick wins en la pregunta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Ahora la pregunta 4: ¿hay relación entre viajar fuera de política y emitir más? Los viajes OutOfPolicy son el 18.43% de los viajes pero el 24.54% de las emisiones. Su media es mayor, 3,567 kg contra 2,478 kg, pero su mediana es menor. Eso llamó la atención: la explicación está en el modo. El 68.84% de los viajes OutOfPolicy usa business o first en el primer tramo, contra el 21.85% de los demás. Es una asociación en estos datos, no afirmamos causa.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Este es nuestro hallazgo más importante para el pilar 2. En los 55,609 viajes que tienen el evento de vuelo, OutOfPolicy igual a Yes coincide sin excepciones con reservar a menos de 14 días del vuelo: la mediana es 6 días y el máximo 13. En los viajes dentro de política, el mínimo es 14 días y la mediana 23. Aclaramos que el diccionario dice que otros factores, como el nivel del empleado, también influyen. Y a la derecha: la aprobación no distingue. Casi el mismo porcentaje de viajes no llega a aprobado, 3.58% dentro de política y 3.57% fuera. Por eso planteamos como hipótesis que esa validación de anticipación se podría automatizar al reservar.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Tres preguntas del enunciado cambian al mirar los datos. Q5: las emisiones por viaje son casi iguales entre unidades de negocio y entre propósitos, de 2,556 a 2,791 kg; las diferencias en totales vienen del número de viajes, así que una política diferenciada por unidad no tendría base en la intensidad por viaje. Q6: los viajes con desviaciones, como cancelaciones o cambios, no emiten más en promedio que los que no las tienen: 2,661 contra 2,690 kg. Q7: el estimado por gasto, Spend_CO2e, subestima el total con una razón de 0.8378, y cambia mucho por modo: subestima el tren y la economy, y sobreestima first. Estos resultados también son parte de nuestro aprendizaje.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Estas son las ocho preguntas. Las seis primeras vienen del enunciado, adaptadas; la 7 y la 8 son propias. La 7 evalúa qué tan confiable es la estimación por gasto, ligada a la contabilidad de carbono, el pilar 3; y la 8 pregunta si la aprobación filtra los viajes fuera de política y qué validaciones se podrían automatizar, ligada al pilar 2. Cada pregunta tiene en el documento su plan: qué datos usa, qué se mide y con qué herramienta, y ya tiene una evidencia preliminar.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B"/>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10515600" cy="365760"/>
          </a:xfrm>
          <a:prstGeom prst="rect">
            <a:avLst/>
          </a:prstGeom>
          <a:noFill/>
          <a:ln/>
        </p:spPr>
        <p:txBody>
          <a:bodyPr wrap="square" lIns="0" tIns="0" rIns="0" bIns="0" rtlCol="0" anchor="ctr"/>
          <a:lstStyle/>
          <a:p>
            <a:pPr marL="0" indent="0">
              <a:buNone/>
            </a:pPr>
            <a:r>
              <a:rPr lang="en-US" sz="1600" dirty="0">
                <a:solidFill>
                  <a:srgbClr val="9FD3D3"/>
                </a:solidFill>
                <a:latin typeface="Calibri" pitchFamily="34" charset="0"/>
                <a:ea typeface="Calibri" pitchFamily="34" charset="-122"/>
                <a:cs typeface="Calibri" pitchFamily="34" charset="-120"/>
              </a:rPr>
              <a:t>IF-6201 | Informática Aplicada a los Negocios</a:t>
            </a:r>
            <a:endParaRPr lang="en-US" sz="1600" dirty="0"/>
          </a:p>
        </p:txBody>
      </p:sp>
      <p:sp>
        <p:nvSpPr>
          <p:cNvPr id="3" name="Text 1"/>
          <p:cNvSpPr txBox="1"/>
          <p:nvPr/>
        </p:nvSpPr>
        <p:spPr>
          <a:xfrm>
            <a:off x="731520" y="1371600"/>
            <a:ext cx="10515600" cy="14630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Avance 1: comprensión y preparación del proyecto</a:t>
            </a:r>
            <a:endParaRPr lang="en-US" sz="4400" dirty="0"/>
          </a:p>
        </p:txBody>
      </p:sp>
      <p:sp>
        <p:nvSpPr>
          <p:cNvPr id="4" name="Text 2"/>
          <p:cNvSpPr txBox="1"/>
          <p:nvPr/>
        </p:nvSpPr>
        <p:spPr>
          <a:xfrm>
            <a:off x="731520" y="2971800"/>
            <a:ext cx="8686800" cy="822960"/>
          </a:xfrm>
          <a:prstGeom prst="rect">
            <a:avLst/>
          </a:prstGeom>
          <a:noFill/>
          <a:ln/>
        </p:spPr>
        <p:txBody>
          <a:bodyPr wrap="square" lIns="0" tIns="0" rIns="0" bIns="0" rtlCol="0" anchor="t"/>
          <a:lstStyle/>
          <a:p>
            <a:pPr marL="0" indent="0">
              <a:buNone/>
            </a:pPr>
            <a:r>
              <a:rPr lang="en-US" sz="2000" dirty="0">
                <a:solidFill>
                  <a:srgbClr val="CFE6E6"/>
                </a:solidFill>
                <a:latin typeface="Calibri" pitchFamily="34" charset="0"/>
                <a:ea typeface="Calibri" pitchFamily="34" charset="-122"/>
                <a:cs typeface="Calibri" pitchFamily="34" charset="-120"/>
              </a:rPr>
              <a:t>Viajes de negocio y huella de carbono (Scope 3), analizados con minería de procesos en Celonis</a:t>
            </a:r>
            <a:endParaRPr lang="en-US" sz="2000" dirty="0"/>
          </a:p>
        </p:txBody>
      </p:sp>
      <p:sp>
        <p:nvSpPr>
          <p:cNvPr id="5" name="Text 3"/>
          <p:cNvSpPr txBox="1"/>
          <p:nvPr/>
        </p:nvSpPr>
        <p:spPr>
          <a:xfrm>
            <a:off x="731520" y="4297680"/>
            <a:ext cx="5486400" cy="1737360"/>
          </a:xfrm>
          <a:prstGeom prst="rect">
            <a:avLst/>
          </a:prstGeom>
          <a:noFill/>
          <a:ln/>
        </p:spPr>
        <p:txBody>
          <a:bodyPr wrap="square" lIns="0" tIns="0" rIns="0" bIns="0" rtlCol="0" anchor="t"/>
          <a:lstStyle/>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Kendall Trejos Cubero</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Mariangel Arias Alfaro</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Gabriel Montero Apu</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Sebastian Alfaro Arias</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Alejandro Arias Rojas</a:t>
            </a:r>
            <a:endParaRPr lang="en-US" sz="1800" dirty="0"/>
          </a:p>
        </p:txBody>
      </p:sp>
      <p:sp>
        <p:nvSpPr>
          <p:cNvPr id="6" name="Text 4"/>
          <p:cNvSpPr txBox="1"/>
          <p:nvPr/>
        </p:nvSpPr>
        <p:spPr>
          <a:xfrm>
            <a:off x="7589520" y="5852160"/>
            <a:ext cx="3931920" cy="365760"/>
          </a:xfrm>
          <a:prstGeom prst="rect">
            <a:avLst/>
          </a:prstGeom>
          <a:noFill/>
          <a:ln/>
        </p:spPr>
        <p:txBody>
          <a:bodyPr wrap="square" lIns="0" tIns="0" rIns="0" bIns="0" rtlCol="0" anchor="ctr"/>
          <a:lstStyle/>
          <a:p>
            <a:pPr marL="0" indent="0" algn="r">
              <a:buNone/>
            </a:pPr>
            <a:r>
              <a:rPr lang="en-US" sz="1400" dirty="0">
                <a:solidFill>
                  <a:srgbClr val="9FD3D3"/>
                </a:solidFill>
                <a:latin typeface="Calibri" pitchFamily="34" charset="0"/>
                <a:ea typeface="Calibri" pitchFamily="34" charset="-122"/>
                <a:cs typeface="Calibri" pitchFamily="34" charset="-120"/>
              </a:rPr>
              <a:t>Entrega: 21 de septiembre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Un reto con tres pilares: los viajes de negocio son la mayor fuente de emisiones</a:t>
            </a:r>
            <a:endParaRPr lang="en-US" sz="2900" dirty="0"/>
          </a:p>
        </p:txBody>
      </p:sp>
      <p:sp>
        <p:nvSpPr>
          <p:cNvPr id="3" name="Text 1"/>
          <p:cNvSpPr txBox="1"/>
          <p:nvPr/>
        </p:nvSpPr>
        <p:spPr>
          <a:xfrm>
            <a:off x="548640" y="1417320"/>
            <a:ext cx="11064240" cy="914400"/>
          </a:xfrm>
          <a:prstGeom prst="rect">
            <a:avLst/>
          </a:prstGeom>
          <a:noFill/>
          <a:ln/>
        </p:spPr>
        <p:txBody>
          <a:bodyPr wrap="square" lIns="0" tIns="0" rIns="0" bIns="0" rtlCol="0" anchor="t"/>
          <a:lstStyle/>
          <a:p>
            <a:pPr marL="0" indent="0">
              <a:buNone/>
            </a:pPr>
            <a:r>
              <a:rPr lang="en-US" sz="1800" dirty="0">
                <a:solidFill>
                  <a:srgbClr val="1B2B2E"/>
                </a:solidFill>
                <a:latin typeface="Calibri" pitchFamily="34" charset="0"/>
                <a:ea typeface="Calibri" pitchFamily="34" charset="-122"/>
                <a:cs typeface="Calibri" pitchFamily="34" charset="-120"/>
              </a:rPr>
              <a:t>La empresa se comprometió a alcanzar Net Zero en 2030. Su mayor fuente de emisiones es Scope 3, y viene de los viajes de sus empleados. Hoy cada empleado reserva por su cuenta, priorizando costo y conveniencia.</a:t>
            </a:r>
            <a:endParaRPr lang="en-US" sz="1800" dirty="0"/>
          </a:p>
        </p:txBody>
      </p:sp>
      <p:sp>
        <p:nvSpPr>
          <p:cNvPr id="4" name="Shape 2"/>
          <p:cNvSpPr/>
          <p:nvPr/>
        </p:nvSpPr>
        <p:spPr>
          <a:xfrm>
            <a:off x="548640" y="2606040"/>
            <a:ext cx="3566160" cy="3383280"/>
          </a:xfrm>
          <a:prstGeom prst="roundRect">
            <a:avLst>
              <a:gd name="adj" fmla="val 3243"/>
            </a:avLst>
          </a:prstGeom>
          <a:solidFill>
            <a:srgbClr val="F3F8F8"/>
          </a:solidFill>
          <a:ln w="12700">
            <a:solidFill>
              <a:srgbClr val="F3F8F8"/>
            </a:solidFill>
            <a:prstDash val="solid"/>
          </a:ln>
        </p:spPr>
        <p:txBody>
          <a:bodyPr/>
          <a:lstStyle/>
          <a:p>
            <a:endParaRPr lang="es-ES_tradnl"/>
          </a:p>
        </p:txBody>
      </p:sp>
      <p:sp>
        <p:nvSpPr>
          <p:cNvPr id="5" name="Shape 3"/>
          <p:cNvSpPr/>
          <p:nvPr/>
        </p:nvSpPr>
        <p:spPr>
          <a:xfrm>
            <a:off x="822960" y="2834640"/>
            <a:ext cx="685800" cy="685800"/>
          </a:xfrm>
          <a:prstGeom prst="ellipse">
            <a:avLst/>
          </a:prstGeom>
          <a:solidFill>
            <a:srgbClr val="1F8A8A"/>
          </a:solidFill>
          <a:ln w="12700">
            <a:solidFill>
              <a:srgbClr val="1F8A8A"/>
            </a:solidFill>
            <a:prstDash val="solid"/>
          </a:ln>
        </p:spPr>
        <p:txBody>
          <a:bodyPr/>
          <a:lstStyle/>
          <a:p>
            <a:endParaRPr lang="es-ES_tradnl"/>
          </a:p>
        </p:txBody>
      </p:sp>
      <p:sp>
        <p:nvSpPr>
          <p:cNvPr id="6" name="Text 4"/>
          <p:cNvSpPr txBox="1"/>
          <p:nvPr/>
        </p:nvSpPr>
        <p:spPr>
          <a:xfrm>
            <a:off x="822960" y="283464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P1</a:t>
            </a:r>
            <a:endParaRPr lang="en-US" sz="2000" dirty="0"/>
          </a:p>
        </p:txBody>
      </p:sp>
      <p:sp>
        <p:nvSpPr>
          <p:cNvPr id="7" name="Text 5"/>
          <p:cNvSpPr txBox="1"/>
          <p:nvPr/>
        </p:nvSpPr>
        <p:spPr>
          <a:xfrm>
            <a:off x="822960" y="3703320"/>
            <a:ext cx="3017520" cy="822960"/>
          </a:xfrm>
          <a:prstGeom prst="rect">
            <a:avLst/>
          </a:prstGeom>
          <a:noFill/>
          <a:ln/>
        </p:spPr>
        <p:txBody>
          <a:bodyPr wrap="square" lIns="0" tIns="0" rIns="0" bIns="0" rtlCol="0" anchor="t"/>
          <a:lstStyle/>
          <a:p>
            <a:pPr marL="0" indent="0">
              <a:buNone/>
            </a:pPr>
            <a:r>
              <a:rPr lang="en-US" sz="1900" b="1" dirty="0">
                <a:solidFill>
                  <a:srgbClr val="12343B"/>
                </a:solidFill>
                <a:latin typeface="Cambria" pitchFamily="34" charset="0"/>
                <a:ea typeface="Cambria" pitchFamily="34" charset="-122"/>
                <a:cs typeface="Cambria" pitchFamily="34" charset="-120"/>
              </a:rPr>
              <a:t>Métricas de carbono en la reserva y la aprobación</a:t>
            </a:r>
            <a:endParaRPr lang="en-US" sz="1900" dirty="0"/>
          </a:p>
        </p:txBody>
      </p:sp>
      <p:sp>
        <p:nvSpPr>
          <p:cNvPr id="8" name="Text 6"/>
          <p:cNvSpPr txBox="1"/>
          <p:nvPr/>
        </p:nvSpPr>
        <p:spPr>
          <a:xfrm>
            <a:off x="822960" y="4572000"/>
            <a:ext cx="3017520" cy="1280160"/>
          </a:xfrm>
          <a:prstGeom prst="rect">
            <a:avLst/>
          </a:prstGeom>
          <a:noFill/>
          <a:ln/>
        </p:spPr>
        <p:txBody>
          <a:bodyPr wrap="square" lIns="0" tIns="0" rIns="0" bIns="0" rtlCol="0" anchor="t"/>
          <a:lstStyle/>
          <a:p>
            <a:pPr marL="0" indent="0">
              <a:buNone/>
            </a:pPr>
            <a:r>
              <a:rPr lang="en-US" sz="1700" dirty="0">
                <a:solidFill>
                  <a:srgbClr val="1B2B2E"/>
                </a:solidFill>
                <a:latin typeface="Calibri" pitchFamily="34" charset="0"/>
                <a:ea typeface="Calibri" pitchFamily="34" charset="-122"/>
                <a:cs typeface="Calibri" pitchFamily="34" charset="-120"/>
              </a:rPr>
              <a:t>Integrar el impacto ambiental directamente en el flujo de reserva y aprobación de viajes.</a:t>
            </a:r>
            <a:endParaRPr lang="en-US" sz="1700" dirty="0"/>
          </a:p>
        </p:txBody>
      </p:sp>
      <p:sp>
        <p:nvSpPr>
          <p:cNvPr id="9" name="Shape 7"/>
          <p:cNvSpPr/>
          <p:nvPr/>
        </p:nvSpPr>
        <p:spPr>
          <a:xfrm>
            <a:off x="4297680" y="2606040"/>
            <a:ext cx="3566160" cy="3383280"/>
          </a:xfrm>
          <a:prstGeom prst="roundRect">
            <a:avLst>
              <a:gd name="adj" fmla="val 3243"/>
            </a:avLst>
          </a:prstGeom>
          <a:solidFill>
            <a:srgbClr val="F3F8F8"/>
          </a:solidFill>
          <a:ln w="12700">
            <a:solidFill>
              <a:srgbClr val="F3F8F8"/>
            </a:solidFill>
            <a:prstDash val="solid"/>
          </a:ln>
        </p:spPr>
        <p:txBody>
          <a:bodyPr/>
          <a:lstStyle/>
          <a:p>
            <a:endParaRPr lang="es-ES_tradnl"/>
          </a:p>
        </p:txBody>
      </p:sp>
      <p:sp>
        <p:nvSpPr>
          <p:cNvPr id="10" name="Shape 8"/>
          <p:cNvSpPr/>
          <p:nvPr/>
        </p:nvSpPr>
        <p:spPr>
          <a:xfrm>
            <a:off x="4572000" y="2834640"/>
            <a:ext cx="685800" cy="685800"/>
          </a:xfrm>
          <a:prstGeom prst="ellipse">
            <a:avLst/>
          </a:prstGeom>
          <a:solidFill>
            <a:srgbClr val="1F8A8A"/>
          </a:solidFill>
          <a:ln w="12700">
            <a:solidFill>
              <a:srgbClr val="1F8A8A"/>
            </a:solidFill>
            <a:prstDash val="solid"/>
          </a:ln>
        </p:spPr>
        <p:txBody>
          <a:bodyPr/>
          <a:lstStyle/>
          <a:p>
            <a:endParaRPr lang="es-ES_tradnl"/>
          </a:p>
        </p:txBody>
      </p:sp>
      <p:sp>
        <p:nvSpPr>
          <p:cNvPr id="11" name="Text 9"/>
          <p:cNvSpPr txBox="1"/>
          <p:nvPr/>
        </p:nvSpPr>
        <p:spPr>
          <a:xfrm>
            <a:off x="4572000" y="283464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P2</a:t>
            </a:r>
            <a:endParaRPr lang="en-US" sz="2000" dirty="0"/>
          </a:p>
        </p:txBody>
      </p:sp>
      <p:sp>
        <p:nvSpPr>
          <p:cNvPr id="12" name="Text 10"/>
          <p:cNvSpPr txBox="1"/>
          <p:nvPr/>
        </p:nvSpPr>
        <p:spPr>
          <a:xfrm>
            <a:off x="4572000" y="3703320"/>
            <a:ext cx="3017520" cy="822960"/>
          </a:xfrm>
          <a:prstGeom prst="rect">
            <a:avLst/>
          </a:prstGeom>
          <a:noFill/>
          <a:ln/>
        </p:spPr>
        <p:txBody>
          <a:bodyPr wrap="square" lIns="0" tIns="0" rIns="0" bIns="0" rtlCol="0" anchor="t"/>
          <a:lstStyle/>
          <a:p>
            <a:pPr marL="0" indent="0">
              <a:buNone/>
            </a:pPr>
            <a:r>
              <a:rPr lang="en-US" sz="1900" b="1" dirty="0">
                <a:solidFill>
                  <a:srgbClr val="12343B"/>
                </a:solidFill>
                <a:latin typeface="Cambria" pitchFamily="34" charset="0"/>
                <a:ea typeface="Cambria" pitchFamily="34" charset="-122"/>
                <a:cs typeface="Cambria" pitchFamily="34" charset="-120"/>
              </a:rPr>
              <a:t>Validaciones de política automatizadas</a:t>
            </a:r>
            <a:endParaRPr lang="en-US" sz="1900" dirty="0"/>
          </a:p>
        </p:txBody>
      </p:sp>
      <p:sp>
        <p:nvSpPr>
          <p:cNvPr id="13" name="Text 11"/>
          <p:cNvSpPr txBox="1"/>
          <p:nvPr/>
        </p:nvSpPr>
        <p:spPr>
          <a:xfrm>
            <a:off x="4572000" y="4572000"/>
            <a:ext cx="3017520" cy="1280160"/>
          </a:xfrm>
          <a:prstGeom prst="rect">
            <a:avLst/>
          </a:prstGeom>
          <a:noFill/>
          <a:ln/>
        </p:spPr>
        <p:txBody>
          <a:bodyPr wrap="square" lIns="0" tIns="0" rIns="0" bIns="0" rtlCol="0" anchor="t"/>
          <a:lstStyle/>
          <a:p>
            <a:pPr marL="0" indent="0">
              <a:buNone/>
            </a:pPr>
            <a:r>
              <a:rPr lang="en-US" sz="1700" dirty="0">
                <a:solidFill>
                  <a:srgbClr val="1B2B2E"/>
                </a:solidFill>
                <a:latin typeface="Calibri" pitchFamily="34" charset="0"/>
                <a:ea typeface="Calibri" pitchFamily="34" charset="-122"/>
                <a:cs typeface="Calibri" pitchFamily="34" charset="-120"/>
              </a:rPr>
              <a:t>Aumentar la automatización para que las decisiones sostenibles se tomen de forma consistente.</a:t>
            </a:r>
            <a:endParaRPr lang="en-US" sz="1700" dirty="0"/>
          </a:p>
        </p:txBody>
      </p:sp>
      <p:sp>
        <p:nvSpPr>
          <p:cNvPr id="14" name="Shape 12"/>
          <p:cNvSpPr/>
          <p:nvPr/>
        </p:nvSpPr>
        <p:spPr>
          <a:xfrm>
            <a:off x="8046720" y="2606040"/>
            <a:ext cx="3566160" cy="3383280"/>
          </a:xfrm>
          <a:prstGeom prst="roundRect">
            <a:avLst>
              <a:gd name="adj" fmla="val 3243"/>
            </a:avLst>
          </a:prstGeom>
          <a:solidFill>
            <a:srgbClr val="F3F8F8"/>
          </a:solidFill>
          <a:ln w="12700">
            <a:solidFill>
              <a:srgbClr val="F3F8F8"/>
            </a:solidFill>
            <a:prstDash val="solid"/>
          </a:ln>
        </p:spPr>
        <p:txBody>
          <a:bodyPr/>
          <a:lstStyle/>
          <a:p>
            <a:endParaRPr lang="es-ES_tradnl"/>
          </a:p>
        </p:txBody>
      </p:sp>
      <p:sp>
        <p:nvSpPr>
          <p:cNvPr id="15" name="Shape 13"/>
          <p:cNvSpPr/>
          <p:nvPr/>
        </p:nvSpPr>
        <p:spPr>
          <a:xfrm>
            <a:off x="8321040" y="2834640"/>
            <a:ext cx="685800" cy="685800"/>
          </a:xfrm>
          <a:prstGeom prst="ellipse">
            <a:avLst/>
          </a:prstGeom>
          <a:solidFill>
            <a:srgbClr val="1F8A8A"/>
          </a:solidFill>
          <a:ln w="12700">
            <a:solidFill>
              <a:srgbClr val="1F8A8A"/>
            </a:solidFill>
            <a:prstDash val="solid"/>
          </a:ln>
        </p:spPr>
        <p:txBody>
          <a:bodyPr/>
          <a:lstStyle/>
          <a:p>
            <a:endParaRPr lang="es-ES_tradnl"/>
          </a:p>
        </p:txBody>
      </p:sp>
      <p:sp>
        <p:nvSpPr>
          <p:cNvPr id="16" name="Text 14"/>
          <p:cNvSpPr txBox="1"/>
          <p:nvPr/>
        </p:nvSpPr>
        <p:spPr>
          <a:xfrm>
            <a:off x="8321040" y="2834640"/>
            <a:ext cx="68580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P3</a:t>
            </a:r>
            <a:endParaRPr lang="en-US" sz="2000" dirty="0"/>
          </a:p>
        </p:txBody>
      </p:sp>
      <p:sp>
        <p:nvSpPr>
          <p:cNvPr id="17" name="Text 15"/>
          <p:cNvSpPr txBox="1"/>
          <p:nvPr/>
        </p:nvSpPr>
        <p:spPr>
          <a:xfrm>
            <a:off x="8321040" y="3703320"/>
            <a:ext cx="3017520" cy="822960"/>
          </a:xfrm>
          <a:prstGeom prst="rect">
            <a:avLst/>
          </a:prstGeom>
          <a:noFill/>
          <a:ln/>
        </p:spPr>
        <p:txBody>
          <a:bodyPr wrap="square" lIns="0" tIns="0" rIns="0" bIns="0" rtlCol="0" anchor="t"/>
          <a:lstStyle/>
          <a:p>
            <a:pPr marL="0" indent="0">
              <a:buNone/>
            </a:pPr>
            <a:r>
              <a:rPr lang="en-US" sz="1900" b="1" dirty="0">
                <a:solidFill>
                  <a:srgbClr val="12343B"/>
                </a:solidFill>
                <a:latin typeface="Cambria" pitchFamily="34" charset="0"/>
                <a:ea typeface="Cambria" pitchFamily="34" charset="-122"/>
                <a:cs typeface="Cambria" pitchFamily="34" charset="-120"/>
              </a:rPr>
              <a:t>Contabilidad de carbono</a:t>
            </a:r>
            <a:endParaRPr lang="en-US" sz="1900" dirty="0"/>
          </a:p>
        </p:txBody>
      </p:sp>
      <p:sp>
        <p:nvSpPr>
          <p:cNvPr id="18" name="Text 16"/>
          <p:cNvSpPr txBox="1"/>
          <p:nvPr/>
        </p:nvSpPr>
        <p:spPr>
          <a:xfrm>
            <a:off x="8321040" y="4572000"/>
            <a:ext cx="3017520" cy="1280160"/>
          </a:xfrm>
          <a:prstGeom prst="rect">
            <a:avLst/>
          </a:prstGeom>
          <a:noFill/>
          <a:ln/>
        </p:spPr>
        <p:txBody>
          <a:bodyPr wrap="square" lIns="0" tIns="0" rIns="0" bIns="0" rtlCol="0" anchor="t"/>
          <a:lstStyle/>
          <a:p>
            <a:pPr marL="0" indent="0">
              <a:buNone/>
            </a:pPr>
            <a:r>
              <a:rPr lang="en-US" sz="1700" dirty="0">
                <a:solidFill>
                  <a:srgbClr val="1B2B2E"/>
                </a:solidFill>
                <a:latin typeface="Calibri" pitchFamily="34" charset="0"/>
                <a:ea typeface="Calibri" pitchFamily="34" charset="-122"/>
                <a:cs typeface="Calibri" pitchFamily="34" charset="-120"/>
              </a:rPr>
              <a:t>Crear un sistema claro para monitorear, medir y reportar el desempeño.</a:t>
            </a:r>
            <a:endParaRPr lang="en-US" sz="1700" dirty="0"/>
          </a:p>
        </p:txBody>
      </p:sp>
      <p:sp>
        <p:nvSpPr>
          <p:cNvPr id="19" name="Text 17"/>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20" name="Text 18"/>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Cuatro data-sets conectados por TripID</a:t>
            </a:r>
            <a:endParaRPr lang="en-US" sz="2900" dirty="0"/>
          </a:p>
        </p:txBody>
      </p:sp>
      <p:sp>
        <p:nvSpPr>
          <p:cNvPr id="3" name="Shape 1"/>
          <p:cNvSpPr/>
          <p:nvPr/>
        </p:nvSpPr>
        <p:spPr>
          <a:xfrm>
            <a:off x="548640" y="2377440"/>
            <a:ext cx="3566160" cy="1828800"/>
          </a:xfrm>
          <a:prstGeom prst="roundRect">
            <a:avLst>
              <a:gd name="adj" fmla="val 6000"/>
            </a:avLst>
          </a:prstGeom>
          <a:solidFill>
            <a:srgbClr val="1F8A8A"/>
          </a:solidFill>
          <a:ln w="12700">
            <a:solidFill>
              <a:srgbClr val="1F8A8A"/>
            </a:solidFill>
            <a:prstDash val="solid"/>
          </a:ln>
        </p:spPr>
        <p:txBody>
          <a:bodyPr/>
          <a:lstStyle/>
          <a:p>
            <a:endParaRPr lang="es-ES_tradnl"/>
          </a:p>
        </p:txBody>
      </p:sp>
      <p:sp>
        <p:nvSpPr>
          <p:cNvPr id="4" name="Text 2"/>
          <p:cNvSpPr txBox="1"/>
          <p:nvPr/>
        </p:nvSpPr>
        <p:spPr>
          <a:xfrm>
            <a:off x="548640" y="2377440"/>
            <a:ext cx="3566160" cy="1828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Trip_Data_With_Emissions</a:t>
            </a:r>
            <a:endParaRPr lang="en-US" sz="1800" dirty="0"/>
          </a:p>
          <a:p>
            <a:pPr marL="0" indent="0" algn="ctr">
              <a:buNone/>
            </a:pPr>
            <a:r>
              <a:rPr lang="en-US" sz="1600" dirty="0">
                <a:solidFill>
                  <a:srgbClr val="FFFFFF"/>
                </a:solidFill>
                <a:latin typeface="Calibri" pitchFamily="34" charset="0"/>
                <a:ea typeface="Calibri" pitchFamily="34" charset="-122"/>
                <a:cs typeface="Calibri" pitchFamily="34" charset="-120"/>
              </a:rPr>
              <a:t>87,053 viajes</a:t>
            </a:r>
            <a:endParaRPr lang="en-US" sz="1800" dirty="0"/>
          </a:p>
          <a:p>
            <a:pPr marL="0" indent="0" algn="ctr">
              <a:buNone/>
            </a:pPr>
            <a:r>
              <a:rPr lang="en-US" sz="1500" dirty="0">
                <a:solidFill>
                  <a:srgbClr val="FFFFFF"/>
                </a:solidFill>
                <a:latin typeface="Calibri" pitchFamily="34" charset="0"/>
                <a:ea typeface="Calibri" pitchFamily="34" charset="-122"/>
                <a:cs typeface="Calibri" pitchFamily="34" charset="-120"/>
              </a:rPr>
              <a:t>15 columnas</a:t>
            </a:r>
            <a:endParaRPr lang="en-US" sz="1800" dirty="0"/>
          </a:p>
        </p:txBody>
      </p:sp>
      <p:sp>
        <p:nvSpPr>
          <p:cNvPr id="5" name="Shape 3"/>
          <p:cNvSpPr/>
          <p:nvPr/>
        </p:nvSpPr>
        <p:spPr>
          <a:xfrm>
            <a:off x="6400800" y="1280160"/>
            <a:ext cx="5212080" cy="1188720"/>
          </a:xfrm>
          <a:prstGeom prst="roundRect">
            <a:avLst>
              <a:gd name="adj" fmla="val 9231"/>
            </a:avLst>
          </a:prstGeom>
          <a:solidFill>
            <a:srgbClr val="F3F8F8"/>
          </a:solidFill>
          <a:ln w="12700">
            <a:solidFill>
              <a:srgbClr val="F3F8F8"/>
            </a:solidFill>
            <a:prstDash val="solid"/>
          </a:ln>
        </p:spPr>
        <p:txBody>
          <a:bodyPr/>
          <a:lstStyle/>
          <a:p>
            <a:endParaRPr lang="es-ES_tradnl"/>
          </a:p>
        </p:txBody>
      </p:sp>
      <p:sp>
        <p:nvSpPr>
          <p:cNvPr id="6" name="Text 4"/>
          <p:cNvSpPr txBox="1"/>
          <p:nvPr/>
        </p:nvSpPr>
        <p:spPr>
          <a:xfrm>
            <a:off x="6629400" y="1280160"/>
            <a:ext cx="4846320" cy="1188720"/>
          </a:xfrm>
          <a:prstGeom prst="rect">
            <a:avLst/>
          </a:prstGeom>
          <a:noFill/>
          <a:ln/>
        </p:spPr>
        <p:txBody>
          <a:bodyPr wrap="square" lIns="0" tIns="0" rIns="0" bIns="0" rtlCol="0" anchor="ctr"/>
          <a:lstStyle/>
          <a:p>
            <a:pPr marL="0" indent="0" algn="l">
              <a:buNone/>
            </a:pPr>
            <a:r>
              <a:rPr lang="en-US" sz="1700" b="1" dirty="0">
                <a:solidFill>
                  <a:srgbClr val="12343B"/>
                </a:solidFill>
                <a:latin typeface="Calibri" pitchFamily="34" charset="0"/>
                <a:ea typeface="Calibri" pitchFamily="34" charset="-122"/>
                <a:cs typeface="Calibri" pitchFamily="34" charset="-120"/>
              </a:rPr>
              <a:t>Transportations_Data_With_Emissions</a:t>
            </a:r>
            <a:endParaRPr lang="en-US" sz="1700" dirty="0"/>
          </a:p>
          <a:p>
            <a:pPr marL="0" indent="0" algn="l">
              <a:buNone/>
            </a:pPr>
            <a:r>
              <a:rPr lang="en-US" sz="1500" dirty="0">
                <a:solidFill>
                  <a:srgbClr val="1B2B2E"/>
                </a:solidFill>
                <a:latin typeface="Calibri" pitchFamily="34" charset="0"/>
                <a:ea typeface="Calibri" pitchFamily="34" charset="-122"/>
                <a:cs typeface="Calibri" pitchFamily="34" charset="-120"/>
              </a:rPr>
              <a:t>99,925 tramos | 12 columnas | relación 1 a N</a:t>
            </a:r>
            <a:endParaRPr lang="en-US" sz="1700" dirty="0"/>
          </a:p>
        </p:txBody>
      </p:sp>
      <p:sp>
        <p:nvSpPr>
          <p:cNvPr id="7" name="Shape 5"/>
          <p:cNvSpPr/>
          <p:nvPr/>
        </p:nvSpPr>
        <p:spPr>
          <a:xfrm flipV="1">
            <a:off x="4114800" y="1874520"/>
            <a:ext cx="2286000" cy="1417320"/>
          </a:xfrm>
          <a:prstGeom prst="line">
            <a:avLst/>
          </a:prstGeom>
          <a:noFill/>
          <a:ln w="25400">
            <a:solidFill>
              <a:srgbClr val="1F8A8A"/>
            </a:solidFill>
            <a:prstDash val="solid"/>
          </a:ln>
        </p:spPr>
        <p:txBody>
          <a:bodyPr/>
          <a:lstStyle/>
          <a:p>
            <a:endParaRPr lang="es-ES_tradnl"/>
          </a:p>
        </p:txBody>
      </p:sp>
      <p:sp>
        <p:nvSpPr>
          <p:cNvPr id="8" name="Shape 6"/>
          <p:cNvSpPr/>
          <p:nvPr/>
        </p:nvSpPr>
        <p:spPr>
          <a:xfrm>
            <a:off x="6400800" y="2697480"/>
            <a:ext cx="5212080" cy="1188720"/>
          </a:xfrm>
          <a:prstGeom prst="roundRect">
            <a:avLst>
              <a:gd name="adj" fmla="val 9231"/>
            </a:avLst>
          </a:prstGeom>
          <a:solidFill>
            <a:srgbClr val="F3F8F8"/>
          </a:solidFill>
          <a:ln w="12700">
            <a:solidFill>
              <a:srgbClr val="F3F8F8"/>
            </a:solidFill>
            <a:prstDash val="solid"/>
          </a:ln>
        </p:spPr>
        <p:txBody>
          <a:bodyPr/>
          <a:lstStyle/>
          <a:p>
            <a:endParaRPr lang="es-ES_tradnl"/>
          </a:p>
        </p:txBody>
      </p:sp>
      <p:sp>
        <p:nvSpPr>
          <p:cNvPr id="9" name="Text 7"/>
          <p:cNvSpPr txBox="1"/>
          <p:nvPr/>
        </p:nvSpPr>
        <p:spPr>
          <a:xfrm>
            <a:off x="6629400" y="2697480"/>
            <a:ext cx="4846320" cy="1188720"/>
          </a:xfrm>
          <a:prstGeom prst="rect">
            <a:avLst/>
          </a:prstGeom>
          <a:noFill/>
          <a:ln/>
        </p:spPr>
        <p:txBody>
          <a:bodyPr wrap="square" lIns="0" tIns="0" rIns="0" bIns="0" rtlCol="0" anchor="ctr"/>
          <a:lstStyle/>
          <a:p>
            <a:pPr marL="0" indent="0" algn="l">
              <a:buNone/>
            </a:pPr>
            <a:r>
              <a:rPr lang="en-US" sz="1700" b="1" dirty="0">
                <a:solidFill>
                  <a:srgbClr val="12343B"/>
                </a:solidFill>
                <a:latin typeface="Calibri" pitchFamily="34" charset="0"/>
                <a:ea typeface="Calibri" pitchFamily="34" charset="-122"/>
                <a:cs typeface="Calibri" pitchFamily="34" charset="-120"/>
              </a:rPr>
              <a:t>Trip_Event_Log</a:t>
            </a:r>
            <a:endParaRPr lang="en-US" sz="1700" dirty="0"/>
          </a:p>
          <a:p>
            <a:pPr marL="0" indent="0" algn="l">
              <a:buNone/>
            </a:pPr>
            <a:r>
              <a:rPr lang="en-US" sz="1500" dirty="0">
                <a:solidFill>
                  <a:srgbClr val="1B2B2E"/>
                </a:solidFill>
                <a:latin typeface="Calibri" pitchFamily="34" charset="0"/>
                <a:ea typeface="Calibri" pitchFamily="34" charset="-122"/>
                <a:cs typeface="Calibri" pitchFamily="34" charset="-120"/>
              </a:rPr>
              <a:t>895,366 eventos | 34 actividades | 4 columnas | relación 1 a N</a:t>
            </a:r>
            <a:endParaRPr lang="en-US" sz="1700" dirty="0"/>
          </a:p>
        </p:txBody>
      </p:sp>
      <p:sp>
        <p:nvSpPr>
          <p:cNvPr id="10" name="Shape 8"/>
          <p:cNvSpPr/>
          <p:nvPr/>
        </p:nvSpPr>
        <p:spPr>
          <a:xfrm>
            <a:off x="4114800" y="3291840"/>
            <a:ext cx="2286000" cy="914"/>
          </a:xfrm>
          <a:prstGeom prst="line">
            <a:avLst/>
          </a:prstGeom>
          <a:noFill/>
          <a:ln w="25400">
            <a:solidFill>
              <a:srgbClr val="1F8A8A"/>
            </a:solidFill>
            <a:prstDash val="solid"/>
          </a:ln>
        </p:spPr>
        <p:txBody>
          <a:bodyPr/>
          <a:lstStyle/>
          <a:p>
            <a:endParaRPr lang="es-ES_tradnl"/>
          </a:p>
        </p:txBody>
      </p:sp>
      <p:sp>
        <p:nvSpPr>
          <p:cNvPr id="11" name="Shape 9"/>
          <p:cNvSpPr/>
          <p:nvPr/>
        </p:nvSpPr>
        <p:spPr>
          <a:xfrm>
            <a:off x="6400800" y="4114800"/>
            <a:ext cx="5212080" cy="1188720"/>
          </a:xfrm>
          <a:prstGeom prst="roundRect">
            <a:avLst>
              <a:gd name="adj" fmla="val 9231"/>
            </a:avLst>
          </a:prstGeom>
          <a:solidFill>
            <a:srgbClr val="F3F8F8"/>
          </a:solidFill>
          <a:ln w="12700">
            <a:solidFill>
              <a:srgbClr val="F3F8F8"/>
            </a:solidFill>
            <a:prstDash val="solid"/>
          </a:ln>
        </p:spPr>
        <p:txBody>
          <a:bodyPr/>
          <a:lstStyle/>
          <a:p>
            <a:endParaRPr lang="es-ES_tradnl"/>
          </a:p>
        </p:txBody>
      </p:sp>
      <p:sp>
        <p:nvSpPr>
          <p:cNvPr id="12" name="Text 10"/>
          <p:cNvSpPr txBox="1"/>
          <p:nvPr/>
        </p:nvSpPr>
        <p:spPr>
          <a:xfrm>
            <a:off x="6629400" y="4114800"/>
            <a:ext cx="4846320" cy="1188720"/>
          </a:xfrm>
          <a:prstGeom prst="rect">
            <a:avLst/>
          </a:prstGeom>
          <a:noFill/>
          <a:ln/>
        </p:spPr>
        <p:txBody>
          <a:bodyPr wrap="square" lIns="0" tIns="0" rIns="0" bIns="0" rtlCol="0" anchor="ctr"/>
          <a:lstStyle/>
          <a:p>
            <a:pPr marL="0" indent="0" algn="l">
              <a:buNone/>
            </a:pPr>
            <a:r>
              <a:rPr lang="en-US" sz="1700" b="1" dirty="0">
                <a:solidFill>
                  <a:srgbClr val="12343B"/>
                </a:solidFill>
                <a:latin typeface="Calibri" pitchFamily="34" charset="0"/>
                <a:ea typeface="Calibri" pitchFamily="34" charset="-122"/>
                <a:cs typeface="Calibri" pitchFamily="34" charset="-120"/>
              </a:rPr>
              <a:t>Trip_Event_Attributes</a:t>
            </a:r>
            <a:endParaRPr lang="en-US" sz="1700" dirty="0"/>
          </a:p>
          <a:p>
            <a:pPr marL="0" indent="0" algn="l">
              <a:buNone/>
            </a:pPr>
            <a:r>
              <a:rPr lang="en-US" sz="1500" dirty="0">
                <a:solidFill>
                  <a:srgbClr val="1B2B2E"/>
                </a:solidFill>
                <a:latin typeface="Calibri" pitchFamily="34" charset="0"/>
                <a:ea typeface="Calibri" pitchFamily="34" charset="-122"/>
                <a:cs typeface="Calibri" pitchFamily="34" charset="-120"/>
              </a:rPr>
              <a:t>87,053 filas | 19 columnas | relación 1 a 1</a:t>
            </a:r>
            <a:endParaRPr lang="en-US" sz="1700" dirty="0"/>
          </a:p>
        </p:txBody>
      </p:sp>
      <p:sp>
        <p:nvSpPr>
          <p:cNvPr id="13" name="Shape 11"/>
          <p:cNvSpPr/>
          <p:nvPr/>
        </p:nvSpPr>
        <p:spPr>
          <a:xfrm>
            <a:off x="4114800" y="3291840"/>
            <a:ext cx="2286000" cy="1417320"/>
          </a:xfrm>
          <a:prstGeom prst="line">
            <a:avLst/>
          </a:prstGeom>
          <a:noFill/>
          <a:ln w="25400">
            <a:solidFill>
              <a:srgbClr val="1F8A8A"/>
            </a:solidFill>
            <a:prstDash val="solid"/>
          </a:ln>
        </p:spPr>
        <p:txBody>
          <a:bodyPr/>
          <a:lstStyle/>
          <a:p>
            <a:endParaRPr lang="es-ES_tradnl"/>
          </a:p>
        </p:txBody>
      </p:sp>
      <p:sp>
        <p:nvSpPr>
          <p:cNvPr id="14" name="Text 12"/>
          <p:cNvSpPr txBox="1"/>
          <p:nvPr/>
        </p:nvSpPr>
        <p:spPr>
          <a:xfrm>
            <a:off x="548640" y="4434840"/>
            <a:ext cx="3566160" cy="731520"/>
          </a:xfrm>
          <a:prstGeom prst="rect">
            <a:avLst/>
          </a:prstGeom>
          <a:noFill/>
          <a:ln/>
        </p:spPr>
        <p:txBody>
          <a:bodyPr wrap="square" lIns="0" tIns="0" rIns="0" bIns="0" rtlCol="0" anchor="t"/>
          <a:lstStyle/>
          <a:p>
            <a:pPr marL="0" indent="0">
              <a:buNone/>
            </a:pPr>
            <a:r>
              <a:rPr lang="en-US" sz="1400" dirty="0">
                <a:solidFill>
                  <a:srgbClr val="5D7175"/>
                </a:solidFill>
                <a:latin typeface="Calibri" pitchFamily="34" charset="0"/>
                <a:ea typeface="Calibri" pitchFamily="34" charset="-122"/>
                <a:cs typeface="Calibri" pitchFamily="34" charset="-120"/>
              </a:rPr>
              <a:t>Periodo de los datos: 1 de diciembre de 2023 a 23 de junio de 2025</a:t>
            </a:r>
            <a:endParaRPr lang="en-US" sz="1400" dirty="0"/>
          </a:p>
        </p:txBody>
      </p:sp>
      <p:sp>
        <p:nvSpPr>
          <p:cNvPr id="15" name="Shape 13"/>
          <p:cNvSpPr/>
          <p:nvPr/>
        </p:nvSpPr>
        <p:spPr>
          <a:xfrm>
            <a:off x="548640" y="5532120"/>
            <a:ext cx="11064240" cy="777240"/>
          </a:xfrm>
          <a:prstGeom prst="roundRect">
            <a:avLst>
              <a:gd name="adj" fmla="val 14118"/>
            </a:avLst>
          </a:prstGeom>
          <a:solidFill>
            <a:srgbClr val="DCEEEE"/>
          </a:solidFill>
          <a:ln w="12700">
            <a:solidFill>
              <a:srgbClr val="DCEEEE"/>
            </a:solidFill>
            <a:prstDash val="solid"/>
          </a:ln>
        </p:spPr>
        <p:txBody>
          <a:bodyPr/>
          <a:lstStyle/>
          <a:p>
            <a:endParaRPr lang="es-ES_tradnl"/>
          </a:p>
        </p:txBody>
      </p:sp>
      <p:sp>
        <p:nvSpPr>
          <p:cNvPr id="16" name="Text 14"/>
          <p:cNvSpPr txBox="1"/>
          <p:nvPr/>
        </p:nvSpPr>
        <p:spPr>
          <a:xfrm>
            <a:off x="777240" y="5532120"/>
            <a:ext cx="10607040" cy="777240"/>
          </a:xfrm>
          <a:prstGeom prst="rect">
            <a:avLst/>
          </a:prstGeom>
          <a:noFill/>
          <a:ln/>
        </p:spPr>
        <p:txBody>
          <a:bodyPr wrap="square" lIns="0" tIns="0" rIns="0" bIns="0" rtlCol="0" anchor="ctr"/>
          <a:lstStyle/>
          <a:p>
            <a:pPr marL="0" indent="0">
              <a:buNone/>
            </a:pPr>
            <a:r>
              <a:rPr lang="en-US" sz="1600" b="1" dirty="0">
                <a:solidFill>
                  <a:srgbClr val="12343B"/>
                </a:solidFill>
                <a:latin typeface="Calibri" pitchFamily="34" charset="0"/>
                <a:ea typeface="Calibri" pitchFamily="34" charset="-122"/>
                <a:cs typeface="Calibri" pitchFamily="34" charset="-120"/>
              </a:rPr>
              <a:t>Mapeo para minería de procesos</a:t>
            </a:r>
            <a:endParaRPr lang="en-US" sz="1600" dirty="0"/>
          </a:p>
          <a:p>
            <a:pPr marL="0" indent="0">
              <a:buNone/>
            </a:pPr>
            <a:r>
              <a:rPr lang="en-US" sz="1600" dirty="0">
                <a:solidFill>
                  <a:srgbClr val="1B2B2E"/>
                </a:solidFill>
                <a:latin typeface="Calibri" pitchFamily="34" charset="0"/>
                <a:ea typeface="Calibri" pitchFamily="34" charset="-122"/>
                <a:cs typeface="Calibri" pitchFamily="34" charset="-120"/>
              </a:rPr>
              <a:t>Case ID = TripID  |  Activity = EventName  |  Timestamp = EventTimestamp  |  Orden = StepOrder</a:t>
            </a:r>
            <a:endParaRPr lang="en-US" sz="1600" dirty="0"/>
          </a:p>
        </p:txBody>
      </p:sp>
      <p:sp>
        <p:nvSpPr>
          <p:cNvPr id="17" name="Text 15"/>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18" name="Text 16"/>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El proceso as-is: reservar, solicitar, aprobar, viajar y reembolsar</a:t>
            </a:r>
            <a:endParaRPr lang="en-US" sz="2900" dirty="0"/>
          </a:p>
        </p:txBody>
      </p:sp>
      <p:pic>
        <p:nvPicPr>
          <p:cNvPr id="3" name="Image 0" descr="Mapa de proceso simplificado en Celonis, 10 de 34 actividades"/>
          <p:cNvPicPr>
            <a:picLocks noChangeAspect="1"/>
          </p:cNvPicPr>
          <p:nvPr/>
        </p:nvPicPr>
        <p:blipFill>
          <a:blip r:embed="rId3"/>
          <a:stretch>
            <a:fillRect/>
          </a:stretch>
        </p:blipFill>
        <p:spPr>
          <a:xfrm>
            <a:off x="548640" y="1371600"/>
            <a:ext cx="3877056" cy="4846320"/>
          </a:xfrm>
          <a:prstGeom prst="rect">
            <a:avLst/>
          </a:prstGeom>
        </p:spPr>
      </p:pic>
      <p:sp>
        <p:nvSpPr>
          <p:cNvPr id="4" name="Text 1"/>
          <p:cNvSpPr txBox="1"/>
          <p:nvPr/>
        </p:nvSpPr>
        <p:spPr>
          <a:xfrm>
            <a:off x="548640" y="6217920"/>
            <a:ext cx="4023360" cy="22860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Mapa de Celonis, vista simplificada: 10 de 34 actividades</a:t>
            </a:r>
            <a:endParaRPr lang="en-US" sz="1000" dirty="0"/>
          </a:p>
        </p:txBody>
      </p:sp>
      <p:sp>
        <p:nvSpPr>
          <p:cNvPr id="5" name="Text 2"/>
          <p:cNvSpPr txBox="1"/>
          <p:nvPr/>
        </p:nvSpPr>
        <p:spPr>
          <a:xfrm>
            <a:off x="5120640" y="1417320"/>
            <a:ext cx="3017520" cy="685800"/>
          </a:xfrm>
          <a:prstGeom prst="rect">
            <a:avLst/>
          </a:prstGeom>
          <a:noFill/>
          <a:ln/>
        </p:spPr>
        <p:txBody>
          <a:bodyPr wrap="square" lIns="0" tIns="0" rIns="0" bIns="0" rtlCol="0" anchor="ctr"/>
          <a:lstStyle/>
          <a:p>
            <a:pPr marL="0" indent="0">
              <a:buNone/>
            </a:pPr>
            <a:r>
              <a:rPr lang="en-US" sz="3800" b="1" dirty="0">
                <a:solidFill>
                  <a:srgbClr val="1F8A8A"/>
                </a:solidFill>
                <a:latin typeface="Cambria" pitchFamily="34" charset="0"/>
                <a:ea typeface="Cambria" pitchFamily="34" charset="-122"/>
                <a:cs typeface="Cambria" pitchFamily="34" charset="-120"/>
              </a:rPr>
              <a:t>96.42%</a:t>
            </a:r>
            <a:endParaRPr lang="en-US" sz="3800" dirty="0"/>
          </a:p>
        </p:txBody>
      </p:sp>
      <p:sp>
        <p:nvSpPr>
          <p:cNvPr id="6" name="Text 3"/>
          <p:cNvSpPr txBox="1"/>
          <p:nvPr/>
        </p:nvSpPr>
        <p:spPr>
          <a:xfrm>
            <a:off x="5120640" y="2103120"/>
            <a:ext cx="301752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de los casos llega a Travel Request Approved (83,940 de 87,053)</a:t>
            </a:r>
            <a:endParaRPr lang="en-US" sz="1500" dirty="0"/>
          </a:p>
        </p:txBody>
      </p:sp>
      <p:sp>
        <p:nvSpPr>
          <p:cNvPr id="7" name="Text 4"/>
          <p:cNvSpPr txBox="1"/>
          <p:nvPr/>
        </p:nvSpPr>
        <p:spPr>
          <a:xfrm>
            <a:off x="8595360" y="1417320"/>
            <a:ext cx="3017520" cy="685800"/>
          </a:xfrm>
          <a:prstGeom prst="rect">
            <a:avLst/>
          </a:prstGeom>
          <a:noFill/>
          <a:ln/>
        </p:spPr>
        <p:txBody>
          <a:bodyPr wrap="square" lIns="0" tIns="0" rIns="0" bIns="0" rtlCol="0" anchor="ctr"/>
          <a:lstStyle/>
          <a:p>
            <a:pPr marL="0" indent="0">
              <a:buNone/>
            </a:pPr>
            <a:r>
              <a:rPr lang="en-US" sz="3800" b="1" dirty="0">
                <a:solidFill>
                  <a:srgbClr val="E8912D"/>
                </a:solidFill>
                <a:latin typeface="Cambria" pitchFamily="34" charset="0"/>
                <a:ea typeface="Cambria" pitchFamily="34" charset="-122"/>
                <a:cs typeface="Cambria" pitchFamily="34" charset="-120"/>
              </a:rPr>
              <a:t>3.58%</a:t>
            </a:r>
            <a:endParaRPr lang="en-US" sz="3800" dirty="0"/>
          </a:p>
        </p:txBody>
      </p:sp>
      <p:sp>
        <p:nvSpPr>
          <p:cNvPr id="8" name="Text 5"/>
          <p:cNvSpPr txBox="1"/>
          <p:nvPr/>
        </p:nvSpPr>
        <p:spPr>
          <a:xfrm>
            <a:off x="8595360" y="2103120"/>
            <a:ext cx="301752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no se aprueba: 3,113 casos terminan en Submit Travel Request</a:t>
            </a:r>
            <a:endParaRPr lang="en-US" sz="1500" dirty="0"/>
          </a:p>
        </p:txBody>
      </p:sp>
      <p:sp>
        <p:nvSpPr>
          <p:cNvPr id="9" name="Shape 6"/>
          <p:cNvSpPr/>
          <p:nvPr/>
        </p:nvSpPr>
        <p:spPr>
          <a:xfrm>
            <a:off x="5120640" y="3246120"/>
            <a:ext cx="6492240" cy="2743200"/>
          </a:xfrm>
          <a:prstGeom prst="roundRect">
            <a:avLst>
              <a:gd name="adj" fmla="val 4000"/>
            </a:avLst>
          </a:prstGeom>
          <a:solidFill>
            <a:srgbClr val="F3F8F8"/>
          </a:solidFill>
          <a:ln w="12700">
            <a:solidFill>
              <a:srgbClr val="F3F8F8"/>
            </a:solidFill>
            <a:prstDash val="solid"/>
          </a:ln>
        </p:spPr>
        <p:txBody>
          <a:bodyPr/>
          <a:lstStyle/>
          <a:p>
            <a:endParaRPr lang="es-ES_tradnl"/>
          </a:p>
        </p:txBody>
      </p:sp>
      <p:sp>
        <p:nvSpPr>
          <p:cNvPr id="10" name="Text 7"/>
          <p:cNvSpPr txBox="1"/>
          <p:nvPr/>
        </p:nvSpPr>
        <p:spPr>
          <a:xfrm>
            <a:off x="5394960" y="3246120"/>
            <a:ext cx="5943600" cy="2743200"/>
          </a:xfrm>
          <a:prstGeom prst="rect">
            <a:avLst/>
          </a:prstGeom>
          <a:noFill/>
          <a:ln/>
        </p:spPr>
        <p:txBody>
          <a:bodyPr wrap="square" lIns="0" tIns="0" rIns="0" bIns="0" rtlCol="0" anchor="ctr"/>
          <a:lstStyle/>
          <a:p>
            <a:pPr marL="0" indent="0">
              <a:buNone/>
            </a:pPr>
            <a:r>
              <a:rPr lang="en-US" sz="1900" b="1" dirty="0">
                <a:solidFill>
                  <a:srgbClr val="12343B"/>
                </a:solidFill>
                <a:latin typeface="Calibri" pitchFamily="34" charset="0"/>
                <a:ea typeface="Calibri" pitchFamily="34" charset="-122"/>
                <a:cs typeface="Calibri" pitchFamily="34" charset="-120"/>
              </a:rPr>
              <a:t>La reserva ocurre antes de la solicitud</a:t>
            </a:r>
            <a:endParaRPr lang="en-US" sz="1900" dirty="0"/>
          </a:p>
          <a:p>
            <a:pPr marL="0" indent="0">
              <a:buNone/>
            </a:pPr>
            <a:r>
              <a:rPr lang="en-US" sz="1600" dirty="0">
                <a:solidFill>
                  <a:srgbClr val="1B2B2E"/>
                </a:solidFill>
                <a:latin typeface="Calibri" pitchFamily="34" charset="0"/>
                <a:ea typeface="Calibri" pitchFamily="34" charset="-122"/>
                <a:cs typeface="Calibri" pitchFamily="34" charset="-120"/>
              </a:rPr>
              <a:t>Según el diccionario, Submit Travel Request debe ir después de Book Mode of Transportation por el sistema que se usa (Navan). En la variante principal, la aprobación se produce sobre reservas ya hechas.</a:t>
            </a:r>
            <a:endParaRPr lang="en-US" sz="1900" dirty="0"/>
          </a:p>
          <a:p>
            <a:pPr marL="0" indent="0">
              <a:buNone/>
            </a:pPr>
            <a:r>
              <a:rPr lang="en-US" sz="600" dirty="0">
                <a:solidFill>
                  <a:srgbClr val="1B2B2E"/>
                </a:solidFill>
                <a:latin typeface="Calibri" pitchFamily="34" charset="0"/>
                <a:ea typeface="Calibri" pitchFamily="34" charset="-122"/>
                <a:cs typeface="Calibri" pitchFamily="34" charset="-120"/>
              </a:rPr>
              <a:t> </a:t>
            </a:r>
            <a:endParaRPr lang="en-US" sz="1900" dirty="0"/>
          </a:p>
          <a:p>
            <a:pPr marL="0" indent="0">
              <a:buNone/>
            </a:pPr>
            <a:r>
              <a:rPr lang="en-US" sz="1400" dirty="0">
                <a:solidFill>
                  <a:srgbClr val="5D7175"/>
                </a:solidFill>
                <a:latin typeface="Calibri" pitchFamily="34" charset="0"/>
                <a:ea typeface="Calibri" pitchFamily="34" charset="-122"/>
                <a:cs typeface="Calibri" pitchFamily="34" charset="-120"/>
              </a:rPr>
              <a:t>Ruta principal: Book Mode of Transportation, Book Lodging, Submit Travel Request, Travel Request Approved, Receive Confirmation, viaje, Submit Expense Request, Expense Request Approved y Expense Reimbursement.</a:t>
            </a:r>
            <a:endParaRPr lang="en-US" sz="1900" dirty="0"/>
          </a:p>
        </p:txBody>
      </p:sp>
      <p:sp>
        <p:nvSpPr>
          <p:cNvPr id="11" name="Text 8"/>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12" name="Text 9"/>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Solo 35% de los viajes sigue el camino principal: Celonis muestra 402 variantes</a:t>
            </a:r>
            <a:endParaRPr lang="en-US" sz="2900" dirty="0"/>
          </a:p>
        </p:txBody>
      </p:sp>
      <p:graphicFrame>
        <p:nvGraphicFramePr>
          <p:cNvPr id="3" name="Chart 0"/>
          <p:cNvGraphicFramePr/>
          <p:nvPr/>
        </p:nvGraphicFramePr>
        <p:xfrm>
          <a:off x="548640" y="137160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440680"/>
            <a:ext cx="6949440" cy="822960"/>
          </a:xfrm>
          <a:prstGeom prst="rect">
            <a:avLst/>
          </a:prstGeom>
          <a:noFill/>
          <a:ln/>
        </p:spPr>
        <p:txBody>
          <a:bodyPr wrap="square" lIns="0" tIns="0" rIns="0" bIns="0" rtlCol="0" anchor="t"/>
          <a:lstStyle/>
          <a:p>
            <a:pPr marL="0" indent="0">
              <a:buNone/>
            </a:pPr>
            <a:r>
              <a:rPr lang="en-US" sz="1600" b="1" dirty="0">
                <a:solidFill>
                  <a:srgbClr val="12343B"/>
                </a:solidFill>
                <a:latin typeface="Calibri" pitchFamily="34" charset="0"/>
                <a:ea typeface="Calibri" pitchFamily="34" charset="-122"/>
                <a:cs typeface="Calibri" pitchFamily="34" charset="-120"/>
              </a:rPr>
              <a:t>Las 5 variantes principales suman 57.35% de los casos. </a:t>
            </a:r>
            <a:r>
              <a:rPr lang="en-US" sz="1600" dirty="0">
                <a:solidFill>
                  <a:srgbClr val="1B2B2E"/>
                </a:solidFill>
                <a:latin typeface="Calibri" pitchFamily="34" charset="0"/>
                <a:ea typeface="Calibri" pitchFamily="34" charset="-122"/>
                <a:cs typeface="Calibri" pitchFamily="34" charset="-120"/>
              </a:rPr>
              <a:t>Tiempo de ciclo: mediana 24.03 días y percentil 90 de 33.48 días (primer a último evento).</a:t>
            </a:r>
            <a:endParaRPr lang="en-US" sz="1600" dirty="0"/>
          </a:p>
        </p:txBody>
      </p:sp>
      <p:pic>
        <p:nvPicPr>
          <p:cNvPr id="5" name="Image 0" descr="Panel de variantes de Celonis: 1 de 402 variantes cubre 35% de los casos"/>
          <p:cNvPicPr>
            <a:picLocks noChangeAspect="1"/>
          </p:cNvPicPr>
          <p:nvPr/>
        </p:nvPicPr>
        <p:blipFill>
          <a:blip r:embed="rId4"/>
          <a:stretch>
            <a:fillRect/>
          </a:stretch>
        </p:blipFill>
        <p:spPr>
          <a:xfrm>
            <a:off x="8138160" y="1325880"/>
            <a:ext cx="3451860" cy="4572000"/>
          </a:xfrm>
          <a:prstGeom prst="rect">
            <a:avLst/>
          </a:prstGeom>
        </p:spPr>
      </p:pic>
      <p:sp>
        <p:nvSpPr>
          <p:cNvPr id="6" name="Text 2"/>
          <p:cNvSpPr txBox="1"/>
          <p:nvPr/>
        </p:nvSpPr>
        <p:spPr>
          <a:xfrm>
            <a:off x="8138160" y="5943600"/>
            <a:ext cx="3566160" cy="411480"/>
          </a:xfrm>
          <a:prstGeom prst="rect">
            <a:avLst/>
          </a:prstGeom>
          <a:noFill/>
          <a:ln/>
        </p:spPr>
        <p:txBody>
          <a:bodyPr wrap="square" lIns="0" tIns="0" rIns="0" bIns="0" rtlCol="0" anchor="t"/>
          <a:lstStyle/>
          <a:p>
            <a:pPr marL="0" indent="0">
              <a:buNone/>
            </a:pPr>
            <a:r>
              <a:rPr lang="en-US" sz="1000" dirty="0">
                <a:solidFill>
                  <a:srgbClr val="5D7175"/>
                </a:solidFill>
                <a:latin typeface="Calibri" pitchFamily="34" charset="0"/>
                <a:ea typeface="Calibri" pitchFamily="34" charset="-122"/>
                <a:cs typeface="Calibri" pitchFamily="34" charset="-120"/>
              </a:rPr>
              <a:t>Celonis: 1 de 402 variantes cubre 35% (30.3K de 87.1K casos)</a:t>
            </a:r>
            <a:endParaRPr lang="en-US" sz="1000" dirty="0"/>
          </a:p>
        </p:txBody>
      </p:sp>
      <p:sp>
        <p:nvSpPr>
          <p:cNvPr id="7" name="Text 3"/>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8" name="Text 4"/>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La huella total es de 233,211 tCO2e y el transporte pesa el 97%</a:t>
            </a:r>
            <a:endParaRPr lang="en-US" sz="2900" dirty="0"/>
          </a:p>
        </p:txBody>
      </p:sp>
      <p:graphicFrame>
        <p:nvGraphicFramePr>
          <p:cNvPr id="3" name="Chart 0"/>
          <p:cNvGraphicFramePr/>
          <p:nvPr/>
        </p:nvGraphicFramePr>
        <p:xfrm>
          <a:off x="457200" y="1325880"/>
          <a:ext cx="42062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4846320"/>
            <a:ext cx="4206240" cy="1463040"/>
          </a:xfrm>
          <a:prstGeom prst="rect">
            <a:avLst/>
          </a:prstGeom>
          <a:noFill/>
          <a:ln/>
        </p:spPr>
        <p:txBody>
          <a:bodyPr wrap="square" lIns="0" tIns="0" rIns="0" bIns="0" rtlCol="0" anchor="t"/>
          <a:lstStyle/>
          <a:p>
            <a:pPr marL="0" indent="0">
              <a:buNone/>
            </a:pPr>
            <a:r>
              <a:rPr lang="en-US" sz="1600" b="1" dirty="0">
                <a:solidFill>
                  <a:srgbClr val="1F8A8A"/>
                </a:solidFill>
                <a:latin typeface="Calibri" pitchFamily="34" charset="0"/>
                <a:ea typeface="Calibri" pitchFamily="34" charset="-122"/>
                <a:cs typeface="Calibri" pitchFamily="34" charset="-120"/>
              </a:rPr>
              <a:t>Transporte 97.21% | Hotel 2.79%</a:t>
            </a:r>
            <a:endParaRPr lang="en-US" sz="1600" dirty="0"/>
          </a:p>
          <a:p>
            <a:pPr marL="0" indent="0">
              <a:buNone/>
            </a:pPr>
            <a:r>
              <a:rPr lang="en-US" sz="1800" b="1" dirty="0">
                <a:solidFill>
                  <a:srgbClr val="12343B"/>
                </a:solidFill>
                <a:latin typeface="Calibri" pitchFamily="34" charset="0"/>
                <a:ea typeface="Calibri" pitchFamily="34" charset="-122"/>
                <a:cs typeface="Calibri" pitchFamily="34" charset="-120"/>
              </a:rPr>
              <a:t>233,211,160.73 kg CO2e</a:t>
            </a:r>
            <a:endParaRPr lang="en-US" sz="1600" dirty="0"/>
          </a:p>
          <a:p>
            <a:pPr marL="0" indent="0">
              <a:buNone/>
            </a:pPr>
            <a:r>
              <a:rPr lang="en-US" sz="1500" dirty="0">
                <a:solidFill>
                  <a:srgbClr val="1B2B2E"/>
                </a:solidFill>
                <a:latin typeface="Calibri" pitchFamily="34" charset="0"/>
                <a:ea typeface="Calibri" pitchFamily="34" charset="-122"/>
                <a:cs typeface="Calibri" pitchFamily="34" charset="-120"/>
              </a:rPr>
              <a:t>2,678.96 kg por viaje (87,053 viajes)</a:t>
            </a:r>
            <a:endParaRPr lang="en-US" sz="16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b="1" dirty="0">
                <a:solidFill>
                  <a:srgbClr val="1F8A8A"/>
                </a:solidFill>
                <a:latin typeface="Calibri" pitchFamily="34" charset="0"/>
                <a:ea typeface="Calibri" pitchFamily="34" charset="-122"/>
                <a:cs typeface="Calibri" pitchFamily="34" charset="-120"/>
              </a:rPr>
              <a:t>Sales y Marketing suman 52.29% del total.</a:t>
            </a:r>
            <a:endParaRPr lang="en-US" sz="1600" dirty="0"/>
          </a:p>
        </p:txBody>
      </p:sp>
      <p:graphicFrame>
        <p:nvGraphicFramePr>
          <p:cNvPr id="5" name="Chart 1"/>
          <p:cNvGraphicFramePr/>
          <p:nvPr/>
        </p:nvGraphicFramePr>
        <p:xfrm>
          <a:off x="5029200" y="1280160"/>
          <a:ext cx="6675120" cy="50292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7" name="Text 3"/>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Los vuelos son el 94% de los tramos y el 99% del CO2 de transporte</a:t>
            </a:r>
            <a:endParaRPr lang="en-US" sz="2900" dirty="0"/>
          </a:p>
        </p:txBody>
      </p:sp>
      <p:graphicFrame>
        <p:nvGraphicFramePr>
          <p:cNvPr id="3" name="Chart 0"/>
          <p:cNvGraphicFramePr/>
          <p:nvPr/>
        </p:nvGraphicFramePr>
        <p:xfrm>
          <a:off x="457200" y="132588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589520" y="1280160"/>
            <a:ext cx="4114800" cy="594360"/>
          </a:xfrm>
          <a:prstGeom prst="rect">
            <a:avLst/>
          </a:prstGeom>
          <a:noFill/>
          <a:ln/>
        </p:spPr>
        <p:txBody>
          <a:bodyPr wrap="square" lIns="0" tIns="0" rIns="0" bIns="0" rtlCol="0" anchor="ctr"/>
          <a:lstStyle/>
          <a:p>
            <a:pPr marL="0" indent="0">
              <a:buNone/>
            </a:pPr>
            <a:r>
              <a:rPr lang="en-US" sz="1700" b="1" dirty="0">
                <a:solidFill>
                  <a:srgbClr val="12343B"/>
                </a:solidFill>
                <a:latin typeface="Cambria" pitchFamily="34" charset="0"/>
                <a:ea typeface="Cambria" pitchFamily="34" charset="-122"/>
                <a:cs typeface="Cambria" pitchFamily="34" charset="-120"/>
              </a:rPr>
              <a:t>Cinco rutas concentran 53.0% del CO2</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589520" y="1965960"/>
          <a:ext cx="4114800" cy="2304288"/>
        </p:xfrm>
        <a:graphic>
          <a:graphicData uri="http://schemas.openxmlformats.org/drawingml/2006/table">
            <a:tbl>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Ruta</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kg CO2e</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B2B2E"/>
                          </a:solidFill>
                          <a:latin typeface="Calibri" pitchFamily="34" charset="0"/>
                          <a:ea typeface="Calibri" pitchFamily="34" charset="-122"/>
                          <a:cs typeface="Calibri" pitchFamily="34" charset="-120"/>
                        </a:rPr>
                        <a:t>Sydney &gt; Los Angeles</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37,129,279.20</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16.38</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B2B2E"/>
                          </a:solidFill>
                          <a:latin typeface="Calibri" pitchFamily="34" charset="0"/>
                          <a:ea typeface="Calibri" pitchFamily="34" charset="-122"/>
                          <a:cs typeface="Calibri" pitchFamily="34" charset="-120"/>
                        </a:rPr>
                        <a:t>Sydney &gt; Singapore</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30,105,183.39</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13.28</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B2B2E"/>
                          </a:solidFill>
                          <a:latin typeface="Calibri" pitchFamily="34" charset="0"/>
                          <a:ea typeface="Calibri" pitchFamily="34" charset="-122"/>
                          <a:cs typeface="Calibri" pitchFamily="34" charset="-120"/>
                        </a:rPr>
                        <a:t>São Paulo &gt; Miami</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20,173,332.26</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8.90</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B2B2E"/>
                          </a:solidFill>
                          <a:latin typeface="Calibri" pitchFamily="34" charset="0"/>
                          <a:ea typeface="Calibri" pitchFamily="34" charset="-122"/>
                          <a:cs typeface="Calibri" pitchFamily="34" charset="-120"/>
                        </a:rPr>
                        <a:t>São Paulo &gt; Johannesburg</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16,542,396.73</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7.30</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B2B2E"/>
                          </a:solidFill>
                          <a:latin typeface="Calibri" pitchFamily="34" charset="0"/>
                          <a:ea typeface="Calibri" pitchFamily="34" charset="-122"/>
                          <a:cs typeface="Calibri" pitchFamily="34" charset="-120"/>
                        </a:rPr>
                        <a:t>Singapore &gt; Frankfurt</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16,183,664.73</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tc>
                  <a:txBody>
                    <a:bodyPr/>
                    <a:lstStyle/>
                    <a:p>
                      <a:pPr marL="0" indent="0" algn="r">
                        <a:buNone/>
                      </a:pPr>
                      <a:r>
                        <a:rPr lang="en-US" sz="1200" dirty="0">
                          <a:solidFill>
                            <a:srgbClr val="1B2B2E"/>
                          </a:solidFill>
                          <a:latin typeface="Calibri" pitchFamily="34" charset="0"/>
                          <a:ea typeface="Calibri" pitchFamily="34" charset="-122"/>
                          <a:cs typeface="Calibri" pitchFamily="34" charset="-120"/>
                        </a:rPr>
                        <a:t>7.14</a:t>
                      </a:r>
                      <a:endParaRPr lang="en-US" sz="12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2"/>
          <p:cNvSpPr/>
          <p:nvPr/>
        </p:nvSpPr>
        <p:spPr>
          <a:xfrm>
            <a:off x="7589520" y="4526280"/>
            <a:ext cx="4114800" cy="1554480"/>
          </a:xfrm>
          <a:prstGeom prst="roundRect">
            <a:avLst>
              <a:gd name="adj" fmla="val 7059"/>
            </a:avLst>
          </a:prstGeom>
          <a:solidFill>
            <a:srgbClr val="DCEEEE"/>
          </a:solidFill>
          <a:ln w="12700">
            <a:solidFill>
              <a:srgbClr val="DCEEEE"/>
            </a:solidFill>
            <a:prstDash val="solid"/>
          </a:ln>
        </p:spPr>
        <p:txBody>
          <a:bodyPr/>
          <a:lstStyle/>
          <a:p>
            <a:endParaRPr lang="es-ES_tradnl"/>
          </a:p>
        </p:txBody>
      </p:sp>
      <p:sp>
        <p:nvSpPr>
          <p:cNvPr id="7" name="Text 3"/>
          <p:cNvSpPr txBox="1"/>
          <p:nvPr/>
        </p:nvSpPr>
        <p:spPr>
          <a:xfrm>
            <a:off x="7772400" y="4526280"/>
            <a:ext cx="3749040" cy="1554480"/>
          </a:xfrm>
          <a:prstGeom prst="rect">
            <a:avLst/>
          </a:prstGeom>
          <a:noFill/>
          <a:ln/>
        </p:spPr>
        <p:txBody>
          <a:bodyPr wrap="square" lIns="0" tIns="0" rIns="0" bIns="0" rtlCol="0" anchor="ctr"/>
          <a:lstStyle/>
          <a:p>
            <a:pPr marL="0" indent="0">
              <a:buNone/>
            </a:pPr>
            <a:r>
              <a:rPr lang="en-US" sz="1500" b="1" dirty="0">
                <a:solidFill>
                  <a:srgbClr val="12343B"/>
                </a:solidFill>
                <a:latin typeface="Calibri" pitchFamily="34" charset="0"/>
                <a:ea typeface="Calibri" pitchFamily="34" charset="-122"/>
                <a:cs typeface="Calibri" pitchFamily="34" charset="-120"/>
              </a:rPr>
              <a:t>Tren: 2.61% de los tramos y 0.07% del CO2.</a:t>
            </a:r>
            <a:endParaRPr lang="en-US" sz="1500" dirty="0"/>
          </a:p>
          <a:p>
            <a:pPr marL="0" indent="0">
              <a:buNone/>
            </a:pPr>
            <a:r>
              <a:rPr lang="en-US" sz="1500" dirty="0">
                <a:solidFill>
                  <a:srgbClr val="1B2B2E"/>
                </a:solidFill>
                <a:latin typeface="Calibri" pitchFamily="34" charset="0"/>
                <a:ea typeface="Calibri" pitchFamily="34" charset="-122"/>
                <a:cs typeface="Calibri" pitchFamily="34" charset="-120"/>
              </a:rPr>
              <a:t>Business y First: 29.33% de los tramos y 53.25% del CO2.</a:t>
            </a:r>
            <a:endParaRPr lang="en-US" sz="1500" dirty="0"/>
          </a:p>
        </p:txBody>
      </p:sp>
      <p:sp>
        <p:nvSpPr>
          <p:cNvPr id="8" name="Text 4"/>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5" name="Text 5"/>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OutOfPolicy es el 18% de los viajes y el 25% de las emisiones</a:t>
            </a:r>
            <a:endParaRPr lang="en-US" sz="2900" dirty="0"/>
          </a:p>
        </p:txBody>
      </p:sp>
      <p:sp>
        <p:nvSpPr>
          <p:cNvPr id="3" name="Text 1"/>
          <p:cNvSpPr txBox="1"/>
          <p:nvPr/>
        </p:nvSpPr>
        <p:spPr>
          <a:xfrm>
            <a:off x="548640" y="1371600"/>
            <a:ext cx="3474720" cy="685800"/>
          </a:xfrm>
          <a:prstGeom prst="rect">
            <a:avLst/>
          </a:prstGeom>
          <a:noFill/>
          <a:ln/>
        </p:spPr>
        <p:txBody>
          <a:bodyPr wrap="square" lIns="0" tIns="0" rIns="0" bIns="0" rtlCol="0" anchor="ctr"/>
          <a:lstStyle/>
          <a:p>
            <a:pPr marL="0" indent="0">
              <a:buNone/>
            </a:pPr>
            <a:r>
              <a:rPr lang="en-US" sz="3800" b="1" dirty="0">
                <a:solidFill>
                  <a:srgbClr val="E8912D"/>
                </a:solidFill>
                <a:latin typeface="Cambria" pitchFamily="34" charset="0"/>
                <a:ea typeface="Cambria" pitchFamily="34" charset="-122"/>
                <a:cs typeface="Cambria" pitchFamily="34" charset="-120"/>
              </a:rPr>
              <a:t>18.43%</a:t>
            </a:r>
            <a:endParaRPr lang="en-US" sz="3800" dirty="0"/>
          </a:p>
        </p:txBody>
      </p:sp>
      <p:sp>
        <p:nvSpPr>
          <p:cNvPr id="4" name="Text 2"/>
          <p:cNvSpPr txBox="1"/>
          <p:nvPr/>
        </p:nvSpPr>
        <p:spPr>
          <a:xfrm>
            <a:off x="548640" y="2057400"/>
            <a:ext cx="347472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de los viajes son OutOfPolicy (16,043 de 87,053)</a:t>
            </a:r>
            <a:endParaRPr lang="en-US" sz="1500" dirty="0"/>
          </a:p>
        </p:txBody>
      </p:sp>
      <p:sp>
        <p:nvSpPr>
          <p:cNvPr id="5" name="Text 3"/>
          <p:cNvSpPr txBox="1"/>
          <p:nvPr/>
        </p:nvSpPr>
        <p:spPr>
          <a:xfrm>
            <a:off x="548640" y="2834640"/>
            <a:ext cx="3474720" cy="685800"/>
          </a:xfrm>
          <a:prstGeom prst="rect">
            <a:avLst/>
          </a:prstGeom>
          <a:noFill/>
          <a:ln/>
        </p:spPr>
        <p:txBody>
          <a:bodyPr wrap="square" lIns="0" tIns="0" rIns="0" bIns="0" rtlCol="0" anchor="ctr"/>
          <a:lstStyle/>
          <a:p>
            <a:pPr marL="0" indent="0">
              <a:buNone/>
            </a:pPr>
            <a:r>
              <a:rPr lang="en-US" sz="3800" b="1" dirty="0">
                <a:solidFill>
                  <a:srgbClr val="E8912D"/>
                </a:solidFill>
                <a:latin typeface="Cambria" pitchFamily="34" charset="0"/>
                <a:ea typeface="Cambria" pitchFamily="34" charset="-122"/>
                <a:cs typeface="Cambria" pitchFamily="34" charset="-120"/>
              </a:rPr>
              <a:t>24.54%</a:t>
            </a:r>
            <a:endParaRPr lang="en-US" sz="3800" dirty="0"/>
          </a:p>
        </p:txBody>
      </p:sp>
      <p:sp>
        <p:nvSpPr>
          <p:cNvPr id="6" name="Text 4"/>
          <p:cNvSpPr txBox="1"/>
          <p:nvPr/>
        </p:nvSpPr>
        <p:spPr>
          <a:xfrm>
            <a:off x="548640" y="3520440"/>
            <a:ext cx="347472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de las emisiones vienen de esos viajes</a:t>
            </a:r>
            <a:endParaRPr lang="en-US" sz="1500" dirty="0"/>
          </a:p>
        </p:txBody>
      </p:sp>
      <p:sp>
        <p:nvSpPr>
          <p:cNvPr id="7" name="Shape 5"/>
          <p:cNvSpPr/>
          <p:nvPr/>
        </p:nvSpPr>
        <p:spPr>
          <a:xfrm>
            <a:off x="548640" y="4434840"/>
            <a:ext cx="3657600" cy="1691640"/>
          </a:xfrm>
          <a:prstGeom prst="roundRect">
            <a:avLst>
              <a:gd name="adj" fmla="val 6486"/>
            </a:avLst>
          </a:prstGeom>
          <a:solidFill>
            <a:srgbClr val="F3F8F8"/>
          </a:solidFill>
          <a:ln w="12700">
            <a:solidFill>
              <a:srgbClr val="F3F8F8"/>
            </a:solidFill>
            <a:prstDash val="solid"/>
          </a:ln>
        </p:spPr>
        <p:txBody>
          <a:bodyPr/>
          <a:lstStyle/>
          <a:p>
            <a:endParaRPr lang="es-ES_tradnl"/>
          </a:p>
        </p:txBody>
      </p:sp>
      <p:sp>
        <p:nvSpPr>
          <p:cNvPr id="8" name="Text 6"/>
          <p:cNvSpPr txBox="1"/>
          <p:nvPr/>
        </p:nvSpPr>
        <p:spPr>
          <a:xfrm>
            <a:off x="777240" y="4434840"/>
            <a:ext cx="3291840" cy="1691640"/>
          </a:xfrm>
          <a:prstGeom prst="rect">
            <a:avLst/>
          </a:prstGeom>
          <a:noFill/>
          <a:ln/>
        </p:spPr>
        <p:txBody>
          <a:bodyPr wrap="square" lIns="0" tIns="0" rIns="0" bIns="0" rtlCol="0" anchor="ctr"/>
          <a:lstStyle/>
          <a:p>
            <a:pPr marL="0" indent="0">
              <a:buNone/>
            </a:pPr>
            <a:r>
              <a:rPr lang="en-US" sz="1500" b="1" dirty="0">
                <a:solidFill>
                  <a:srgbClr val="12343B"/>
                </a:solidFill>
                <a:latin typeface="Calibri" pitchFamily="34" charset="0"/>
                <a:ea typeface="Calibri" pitchFamily="34" charset="-122"/>
                <a:cs typeface="Calibri" pitchFamily="34" charset="-120"/>
              </a:rPr>
              <a:t>Media por viaje</a:t>
            </a:r>
            <a:endParaRPr lang="en-US" sz="1500" dirty="0"/>
          </a:p>
          <a:p>
            <a:pPr marL="0" indent="0">
              <a:buNone/>
            </a:pPr>
            <a:r>
              <a:rPr lang="en-US" sz="1500" dirty="0">
                <a:solidFill>
                  <a:srgbClr val="1B2B2E"/>
                </a:solidFill>
                <a:latin typeface="Calibri" pitchFamily="34" charset="0"/>
                <a:ea typeface="Calibri" pitchFamily="34" charset="-122"/>
                <a:cs typeface="Calibri" pitchFamily="34" charset="-120"/>
              </a:rPr>
              <a:t>3,567.12 kg (Yes) frente a 2,478.30 kg (No)</a:t>
            </a:r>
            <a:endParaRPr lang="en-US" sz="1500" dirty="0"/>
          </a:p>
          <a:p>
            <a:pPr marL="0" indent="0">
              <a:buNone/>
            </a:pPr>
            <a:r>
              <a:rPr lang="en-US" sz="1500" dirty="0">
                <a:solidFill>
                  <a:srgbClr val="5D7175"/>
                </a:solidFill>
                <a:latin typeface="Calibri" pitchFamily="34" charset="0"/>
                <a:ea typeface="Calibri" pitchFamily="34" charset="-122"/>
                <a:cs typeface="Calibri" pitchFamily="34" charset="-120"/>
              </a:rPr>
              <a:t>Mediana: 1,525.19 frente a 1,856.43</a:t>
            </a:r>
            <a:endParaRPr lang="en-US" sz="1500" dirty="0"/>
          </a:p>
        </p:txBody>
      </p:sp>
      <p:graphicFrame>
        <p:nvGraphicFramePr>
          <p:cNvPr id="9" name="Chart 0"/>
          <p:cNvGraphicFramePr/>
          <p:nvPr/>
        </p:nvGraphicFramePr>
        <p:xfrm>
          <a:off x="4754880" y="132588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txBox="1"/>
          <p:nvPr/>
        </p:nvSpPr>
        <p:spPr>
          <a:xfrm>
            <a:off x="4754880" y="5623560"/>
            <a:ext cx="6949440" cy="59436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Su media es mayor pero su mediana es menor: la diferencia coincide con el modo, no con el tamaño de los viajes.</a:t>
            </a:r>
            <a:endParaRPr lang="en-US" sz="1500" dirty="0"/>
          </a:p>
        </p:txBody>
      </p:sp>
      <p:sp>
        <p:nvSpPr>
          <p:cNvPr id="11" name="Text 8"/>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12" name="Text 9"/>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OutOfPolicy coincide con reservar con menos de 14 días, pero la aprobación no lo filtra</a:t>
            </a:r>
            <a:endParaRPr lang="en-US" sz="2900" dirty="0"/>
          </a:p>
        </p:txBody>
      </p:sp>
      <p:sp>
        <p:nvSpPr>
          <p:cNvPr id="3" name="Shape 1"/>
          <p:cNvSpPr/>
          <p:nvPr/>
        </p:nvSpPr>
        <p:spPr>
          <a:xfrm>
            <a:off x="548640" y="1417320"/>
            <a:ext cx="5486400" cy="4754880"/>
          </a:xfrm>
          <a:prstGeom prst="roundRect">
            <a:avLst>
              <a:gd name="adj" fmla="val 2308"/>
            </a:avLst>
          </a:prstGeom>
          <a:solidFill>
            <a:srgbClr val="F3F8F8"/>
          </a:solidFill>
          <a:ln w="12700">
            <a:solidFill>
              <a:srgbClr val="F3F8F8"/>
            </a:solidFill>
            <a:prstDash val="solid"/>
          </a:ln>
        </p:spPr>
        <p:txBody>
          <a:bodyPr/>
          <a:lstStyle/>
          <a:p>
            <a:endParaRPr lang="es-ES_tradnl"/>
          </a:p>
        </p:txBody>
      </p:sp>
      <p:sp>
        <p:nvSpPr>
          <p:cNvPr id="4" name="Text 2"/>
          <p:cNvSpPr txBox="1"/>
          <p:nvPr/>
        </p:nvSpPr>
        <p:spPr>
          <a:xfrm>
            <a:off x="822960" y="1554480"/>
            <a:ext cx="4937760" cy="457200"/>
          </a:xfrm>
          <a:prstGeom prst="rect">
            <a:avLst/>
          </a:prstGeom>
          <a:noFill/>
          <a:ln/>
        </p:spPr>
        <p:txBody>
          <a:bodyPr wrap="square" lIns="0" tIns="0" rIns="0" bIns="0" rtlCol="0" anchor="ctr"/>
          <a:lstStyle/>
          <a:p>
            <a:pPr marL="0" indent="0">
              <a:buNone/>
            </a:pPr>
            <a:r>
              <a:rPr lang="en-US" sz="2000" b="1" dirty="0">
                <a:solidFill>
                  <a:srgbClr val="12343B"/>
                </a:solidFill>
                <a:latin typeface="Cambria" pitchFamily="34" charset="0"/>
                <a:ea typeface="Cambria" pitchFamily="34" charset="-122"/>
                <a:cs typeface="Cambria" pitchFamily="34" charset="-120"/>
              </a:rPr>
              <a:t>Anticipación de la reserva</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4937760" cy="1234440"/>
        </p:xfrm>
        <a:graphic>
          <a:graphicData uri="http://schemas.openxmlformats.org/drawingml/2006/table">
            <a:tbl>
              <a:tblPr/>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OutOfPolicy</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Viajes</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Mediana (días)</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Extremo (días)</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10,111</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6.16</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máx. 13.23</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45,498</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23.02</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400" dirty="0">
                          <a:solidFill>
                            <a:srgbClr val="1B2B2E"/>
                          </a:solidFill>
                          <a:latin typeface="Calibri" pitchFamily="34" charset="0"/>
                          <a:ea typeface="Calibri" pitchFamily="34" charset="-122"/>
                          <a:cs typeface="Calibri" pitchFamily="34" charset="-120"/>
                        </a:rPr>
                        <a:t>mín. 14.08</a:t>
                      </a:r>
                      <a:endParaRPr lang="en-US" sz="1400" dirty="0">
                        <a:latin typeface="Calibri" charset="0"/>
                        <a:ea typeface="Calibri" charset="0"/>
                        <a:cs typeface="Calibri" charset="0"/>
                      </a:endParaRPr>
                    </a:p>
                  </a:txBody>
                  <a:tcP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3"/>
          <p:cNvSpPr txBox="1"/>
          <p:nvPr/>
        </p:nvSpPr>
        <p:spPr>
          <a:xfrm>
            <a:off x="822960" y="3657600"/>
            <a:ext cx="4937760" cy="137160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Días entre el primer Book Mode of Transportation y Take Departure Flight, en los 55,609 viajes con ese evento. OutOfPolicy = Yes coincide sin excepciones con reservas a menos de 14 días.</a:t>
            </a:r>
            <a:endParaRPr lang="en-US" sz="1500" dirty="0"/>
          </a:p>
        </p:txBody>
      </p:sp>
      <p:sp>
        <p:nvSpPr>
          <p:cNvPr id="7" name="Text 4"/>
          <p:cNvSpPr txBox="1"/>
          <p:nvPr/>
        </p:nvSpPr>
        <p:spPr>
          <a:xfrm>
            <a:off x="822960" y="5120640"/>
            <a:ext cx="4937760" cy="822960"/>
          </a:xfrm>
          <a:prstGeom prst="rect">
            <a:avLst/>
          </a:prstGeom>
          <a:noFill/>
          <a:ln/>
        </p:spPr>
        <p:txBody>
          <a:bodyPr wrap="square" lIns="0" tIns="0" rIns="0" bIns="0" rtlCol="0" anchor="t"/>
          <a:lstStyle/>
          <a:p>
            <a:pPr marL="0" indent="0">
              <a:buNone/>
            </a:pPr>
            <a:r>
              <a:rPr lang="en-US" sz="1300" dirty="0">
                <a:solidFill>
                  <a:srgbClr val="5D7175"/>
                </a:solidFill>
                <a:latin typeface="Calibri" pitchFamily="34" charset="0"/>
                <a:ea typeface="Calibri" pitchFamily="34" charset="-122"/>
                <a:cs typeface="Calibri" pitchFamily="34" charset="-120"/>
              </a:rPr>
              <a:t>El diccionario indica que otros factores, como el nivel del empleado, también afectan OutOfPolicy.</a:t>
            </a:r>
            <a:endParaRPr lang="en-US" sz="1300" dirty="0"/>
          </a:p>
        </p:txBody>
      </p:sp>
      <p:sp>
        <p:nvSpPr>
          <p:cNvPr id="8" name="Shape 5"/>
          <p:cNvSpPr/>
          <p:nvPr/>
        </p:nvSpPr>
        <p:spPr>
          <a:xfrm>
            <a:off x="6309360" y="1417320"/>
            <a:ext cx="5349240" cy="4754880"/>
          </a:xfrm>
          <a:prstGeom prst="roundRect">
            <a:avLst>
              <a:gd name="adj" fmla="val 2308"/>
            </a:avLst>
          </a:prstGeom>
          <a:solidFill>
            <a:srgbClr val="F3F8F8"/>
          </a:solidFill>
          <a:ln w="12700">
            <a:solidFill>
              <a:srgbClr val="F3F8F8"/>
            </a:solidFill>
            <a:prstDash val="solid"/>
          </a:ln>
        </p:spPr>
        <p:txBody>
          <a:bodyPr/>
          <a:lstStyle/>
          <a:p>
            <a:endParaRPr lang="es-ES_tradnl"/>
          </a:p>
        </p:txBody>
      </p:sp>
      <p:sp>
        <p:nvSpPr>
          <p:cNvPr id="9" name="Text 6"/>
          <p:cNvSpPr txBox="1"/>
          <p:nvPr/>
        </p:nvSpPr>
        <p:spPr>
          <a:xfrm>
            <a:off x="6583680" y="1554480"/>
            <a:ext cx="4846320" cy="457200"/>
          </a:xfrm>
          <a:prstGeom prst="rect">
            <a:avLst/>
          </a:prstGeom>
          <a:noFill/>
          <a:ln/>
        </p:spPr>
        <p:txBody>
          <a:bodyPr wrap="square" lIns="0" tIns="0" rIns="0" bIns="0" rtlCol="0" anchor="ctr"/>
          <a:lstStyle/>
          <a:p>
            <a:pPr marL="0" indent="0">
              <a:buNone/>
            </a:pPr>
            <a:r>
              <a:rPr lang="en-US" sz="2000" b="1" dirty="0">
                <a:solidFill>
                  <a:srgbClr val="12343B"/>
                </a:solidFill>
                <a:latin typeface="Cambria" pitchFamily="34" charset="0"/>
                <a:ea typeface="Cambria" pitchFamily="34" charset="-122"/>
                <a:cs typeface="Cambria" pitchFamily="34" charset="-120"/>
              </a:rPr>
              <a:t>Viajes que no llegan a aprobación</a:t>
            </a:r>
            <a:endParaRPr lang="en-US" sz="2000" dirty="0"/>
          </a:p>
        </p:txBody>
      </p:sp>
      <p:sp>
        <p:nvSpPr>
          <p:cNvPr id="10" name="Text 7"/>
          <p:cNvSpPr txBox="1"/>
          <p:nvPr/>
        </p:nvSpPr>
        <p:spPr>
          <a:xfrm>
            <a:off x="6583680" y="2194560"/>
            <a:ext cx="2286000" cy="685800"/>
          </a:xfrm>
          <a:prstGeom prst="rect">
            <a:avLst/>
          </a:prstGeom>
          <a:noFill/>
          <a:ln/>
        </p:spPr>
        <p:txBody>
          <a:bodyPr wrap="square" lIns="0" tIns="0" rIns="0" bIns="0" rtlCol="0" anchor="ctr"/>
          <a:lstStyle/>
          <a:p>
            <a:pPr marL="0" indent="0">
              <a:buNone/>
            </a:pPr>
            <a:r>
              <a:rPr lang="en-US" sz="3800" b="1" dirty="0">
                <a:solidFill>
                  <a:srgbClr val="1F8A8A"/>
                </a:solidFill>
                <a:latin typeface="Cambria" pitchFamily="34" charset="0"/>
                <a:ea typeface="Cambria" pitchFamily="34" charset="-122"/>
                <a:cs typeface="Cambria" pitchFamily="34" charset="-120"/>
              </a:rPr>
              <a:t>3.58%</a:t>
            </a:r>
            <a:endParaRPr lang="en-US" sz="3800" dirty="0"/>
          </a:p>
        </p:txBody>
      </p:sp>
      <p:sp>
        <p:nvSpPr>
          <p:cNvPr id="5" name="Text 8"/>
          <p:cNvSpPr txBox="1"/>
          <p:nvPr/>
        </p:nvSpPr>
        <p:spPr>
          <a:xfrm>
            <a:off x="6583680" y="2880360"/>
            <a:ext cx="228600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dentro de política (2,540 viajes)</a:t>
            </a:r>
            <a:endParaRPr lang="en-US" sz="1500" dirty="0"/>
          </a:p>
        </p:txBody>
      </p:sp>
      <p:sp>
        <p:nvSpPr>
          <p:cNvPr id="12" name="Text 9"/>
          <p:cNvSpPr txBox="1"/>
          <p:nvPr/>
        </p:nvSpPr>
        <p:spPr>
          <a:xfrm>
            <a:off x="9144000" y="2194560"/>
            <a:ext cx="2286000" cy="685800"/>
          </a:xfrm>
          <a:prstGeom prst="rect">
            <a:avLst/>
          </a:prstGeom>
          <a:noFill/>
          <a:ln/>
        </p:spPr>
        <p:txBody>
          <a:bodyPr wrap="square" lIns="0" tIns="0" rIns="0" bIns="0" rtlCol="0" anchor="ctr"/>
          <a:lstStyle/>
          <a:p>
            <a:pPr marL="0" indent="0">
              <a:buNone/>
            </a:pPr>
            <a:r>
              <a:rPr lang="en-US" sz="3800" b="1" dirty="0">
                <a:solidFill>
                  <a:srgbClr val="E8912D"/>
                </a:solidFill>
                <a:latin typeface="Cambria" pitchFamily="34" charset="0"/>
                <a:ea typeface="Cambria" pitchFamily="34" charset="-122"/>
                <a:cs typeface="Cambria" pitchFamily="34" charset="-120"/>
              </a:rPr>
              <a:t>3.57%</a:t>
            </a:r>
            <a:endParaRPr lang="en-US" sz="3800" dirty="0"/>
          </a:p>
        </p:txBody>
      </p:sp>
      <p:sp>
        <p:nvSpPr>
          <p:cNvPr id="13" name="Text 10"/>
          <p:cNvSpPr txBox="1"/>
          <p:nvPr/>
        </p:nvSpPr>
        <p:spPr>
          <a:xfrm>
            <a:off x="9144000" y="2880360"/>
            <a:ext cx="2286000" cy="640080"/>
          </a:xfrm>
          <a:prstGeom prst="rect">
            <a:avLst/>
          </a:prstGeom>
          <a:noFill/>
          <a:ln/>
        </p:spPr>
        <p:txBody>
          <a:bodyPr wrap="square" lIns="0" tIns="0" rIns="0" bIns="0" rtlCol="0" anchor="t"/>
          <a:lstStyle/>
          <a:p>
            <a:pPr marL="0" indent="0">
              <a:buNone/>
            </a:pPr>
            <a:r>
              <a:rPr lang="en-US" sz="1500" dirty="0">
                <a:solidFill>
                  <a:srgbClr val="1B2B2E"/>
                </a:solidFill>
                <a:latin typeface="Calibri" pitchFamily="34" charset="0"/>
                <a:ea typeface="Calibri" pitchFamily="34" charset="-122"/>
                <a:cs typeface="Calibri" pitchFamily="34" charset="-120"/>
              </a:rPr>
              <a:t>OutOfPolicy (573 viajes)</a:t>
            </a:r>
            <a:endParaRPr lang="en-US" sz="1500" dirty="0"/>
          </a:p>
        </p:txBody>
      </p:sp>
      <p:sp>
        <p:nvSpPr>
          <p:cNvPr id="14" name="Shape 11"/>
          <p:cNvSpPr/>
          <p:nvPr/>
        </p:nvSpPr>
        <p:spPr>
          <a:xfrm>
            <a:off x="6583680" y="4023360"/>
            <a:ext cx="4800600" cy="1920240"/>
          </a:xfrm>
          <a:prstGeom prst="roundRect">
            <a:avLst>
              <a:gd name="adj" fmla="val 5714"/>
            </a:avLst>
          </a:prstGeom>
          <a:solidFill>
            <a:srgbClr val="DCEEEE"/>
          </a:solidFill>
          <a:ln w="12700">
            <a:solidFill>
              <a:srgbClr val="DCEEEE"/>
            </a:solidFill>
            <a:prstDash val="solid"/>
          </a:ln>
        </p:spPr>
        <p:txBody>
          <a:bodyPr/>
          <a:lstStyle/>
          <a:p>
            <a:endParaRPr lang="es-ES_tradnl"/>
          </a:p>
        </p:txBody>
      </p:sp>
      <p:sp>
        <p:nvSpPr>
          <p:cNvPr id="15" name="Text 12"/>
          <p:cNvSpPr txBox="1"/>
          <p:nvPr/>
        </p:nvSpPr>
        <p:spPr>
          <a:xfrm>
            <a:off x="6766560" y="4023360"/>
            <a:ext cx="4434840" cy="1920240"/>
          </a:xfrm>
          <a:prstGeom prst="rect">
            <a:avLst/>
          </a:prstGeom>
          <a:noFill/>
          <a:ln/>
        </p:spPr>
        <p:txBody>
          <a:bodyPr wrap="square" lIns="0" tIns="0" rIns="0" bIns="0" rtlCol="0" anchor="ctr"/>
          <a:lstStyle/>
          <a:p>
            <a:pPr marL="0" indent="0">
              <a:buNone/>
            </a:pPr>
            <a:r>
              <a:rPr lang="en-US" sz="1600" b="1" dirty="0">
                <a:solidFill>
                  <a:srgbClr val="12343B"/>
                </a:solidFill>
                <a:latin typeface="Calibri" pitchFamily="34" charset="0"/>
                <a:ea typeface="Calibri" pitchFamily="34" charset="-122"/>
                <a:cs typeface="Calibri" pitchFamily="34" charset="-120"/>
              </a:rPr>
              <a:t>Hipótesis para P2: la validación de anticipación podría automatizarse al momento de reservar. Validarla es parte del análisis posterior.</a:t>
            </a:r>
            <a:endParaRPr lang="en-US" sz="1600" dirty="0"/>
          </a:p>
        </p:txBody>
      </p:sp>
      <p:sp>
        <p:nvSpPr>
          <p:cNvPr id="16" name="Text 13"/>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17" name="Text 14"/>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Tres hipótesis del enunciado cambian cuando miramos los datos</a:t>
            </a:r>
            <a:endParaRPr lang="en-US" sz="2900" dirty="0"/>
          </a:p>
        </p:txBody>
      </p:sp>
      <p:sp>
        <p:nvSpPr>
          <p:cNvPr id="3" name="Shape 1"/>
          <p:cNvSpPr/>
          <p:nvPr/>
        </p:nvSpPr>
        <p:spPr>
          <a:xfrm>
            <a:off x="548640" y="1463040"/>
            <a:ext cx="3566160" cy="4480560"/>
          </a:xfrm>
          <a:prstGeom prst="roundRect">
            <a:avLst>
              <a:gd name="adj" fmla="val 3077"/>
            </a:avLst>
          </a:prstGeom>
          <a:solidFill>
            <a:srgbClr val="F3F8F8"/>
          </a:solidFill>
          <a:ln w="12700">
            <a:solidFill>
              <a:srgbClr val="F3F8F8"/>
            </a:solidFill>
            <a:prstDash val="solid"/>
          </a:ln>
        </p:spPr>
        <p:txBody>
          <a:bodyPr/>
          <a:lstStyle/>
          <a:p>
            <a:endParaRPr lang="es-ES_tradnl"/>
          </a:p>
        </p:txBody>
      </p:sp>
      <p:sp>
        <p:nvSpPr>
          <p:cNvPr id="4" name="Shape 2"/>
          <p:cNvSpPr/>
          <p:nvPr/>
        </p:nvSpPr>
        <p:spPr>
          <a:xfrm>
            <a:off x="822960" y="1691640"/>
            <a:ext cx="640080" cy="640080"/>
          </a:xfrm>
          <a:prstGeom prst="ellipse">
            <a:avLst/>
          </a:prstGeom>
          <a:solidFill>
            <a:srgbClr val="1F8A8A"/>
          </a:solidFill>
          <a:ln w="12700">
            <a:solidFill>
              <a:srgbClr val="1F8A8A"/>
            </a:solidFill>
            <a:prstDash val="solid"/>
          </a:ln>
        </p:spPr>
        <p:txBody>
          <a:bodyPr/>
          <a:lstStyle/>
          <a:p>
            <a:endParaRPr lang="es-ES_tradnl"/>
          </a:p>
        </p:txBody>
      </p:sp>
      <p:sp>
        <p:nvSpPr>
          <p:cNvPr id="5" name="Text 3"/>
          <p:cNvSpPr txBox="1"/>
          <p:nvPr/>
        </p:nvSpPr>
        <p:spPr>
          <a:xfrm>
            <a:off x="822960" y="1691640"/>
            <a:ext cx="64008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Q5</a:t>
            </a:r>
            <a:endParaRPr lang="en-US" sz="1700" dirty="0"/>
          </a:p>
        </p:txBody>
      </p:sp>
      <p:sp>
        <p:nvSpPr>
          <p:cNvPr id="6" name="Text 4"/>
          <p:cNvSpPr txBox="1"/>
          <p:nvPr/>
        </p:nvSpPr>
        <p:spPr>
          <a:xfrm>
            <a:off x="1600200" y="1691640"/>
            <a:ext cx="2377440" cy="640080"/>
          </a:xfrm>
          <a:prstGeom prst="rect">
            <a:avLst/>
          </a:prstGeom>
          <a:noFill/>
          <a:ln/>
        </p:spPr>
        <p:txBody>
          <a:bodyPr wrap="square" lIns="0" tIns="0" rIns="0" bIns="0" rtlCol="0" anchor="ctr"/>
          <a:lstStyle/>
          <a:p>
            <a:pPr marL="0" indent="0">
              <a:buNone/>
            </a:pPr>
            <a:r>
              <a:rPr lang="en-US" sz="1800" b="1" dirty="0">
                <a:solidFill>
                  <a:srgbClr val="12343B"/>
                </a:solidFill>
                <a:latin typeface="Cambria" pitchFamily="34" charset="0"/>
                <a:ea typeface="Cambria" pitchFamily="34" charset="-122"/>
                <a:cs typeface="Cambria" pitchFamily="34" charset="-120"/>
              </a:rPr>
              <a:t>Unidades y propósitos</a:t>
            </a:r>
            <a:endParaRPr lang="en-US" sz="1800" dirty="0"/>
          </a:p>
        </p:txBody>
      </p:sp>
      <p:sp>
        <p:nvSpPr>
          <p:cNvPr id="7" name="Text 5"/>
          <p:cNvSpPr txBox="1"/>
          <p:nvPr/>
        </p:nvSpPr>
        <p:spPr>
          <a:xfrm>
            <a:off x="822960" y="2651760"/>
            <a:ext cx="3108960" cy="822960"/>
          </a:xfrm>
          <a:prstGeom prst="rect">
            <a:avLst/>
          </a:prstGeom>
          <a:noFill/>
          <a:ln/>
        </p:spPr>
        <p:txBody>
          <a:bodyPr wrap="square" lIns="0" tIns="0" rIns="0" bIns="0" rtlCol="0" anchor="ctr"/>
          <a:lstStyle/>
          <a:p>
            <a:pPr marL="0" indent="0">
              <a:buNone/>
            </a:pPr>
            <a:r>
              <a:rPr lang="en-US" sz="3000" b="1" dirty="0">
                <a:solidFill>
                  <a:srgbClr val="E8912D"/>
                </a:solidFill>
                <a:latin typeface="Cambria" pitchFamily="34" charset="0"/>
                <a:ea typeface="Cambria" pitchFamily="34" charset="-122"/>
                <a:cs typeface="Cambria" pitchFamily="34" charset="-120"/>
              </a:rPr>
              <a:t>2,556 a 2,791 kg</a:t>
            </a:r>
            <a:endParaRPr lang="en-US" sz="3000" dirty="0"/>
          </a:p>
        </p:txBody>
      </p:sp>
      <p:sp>
        <p:nvSpPr>
          <p:cNvPr id="8" name="Text 6"/>
          <p:cNvSpPr txBox="1"/>
          <p:nvPr/>
        </p:nvSpPr>
        <p:spPr>
          <a:xfrm>
            <a:off x="822960" y="3611880"/>
            <a:ext cx="3108960" cy="2194560"/>
          </a:xfrm>
          <a:prstGeom prst="rect">
            <a:avLst/>
          </a:prstGeom>
          <a:noFill/>
          <a:ln/>
        </p:spPr>
        <p:txBody>
          <a:bodyPr wrap="square" lIns="0" tIns="0" rIns="0" bIns="0" rtlCol="0" anchor="t"/>
          <a:lstStyle/>
          <a:p>
            <a:pPr marL="0" indent="0">
              <a:buNone/>
            </a:pPr>
            <a:r>
              <a:rPr lang="en-US" sz="1800" dirty="0">
                <a:solidFill>
                  <a:srgbClr val="1B2B2E"/>
                </a:solidFill>
                <a:latin typeface="Calibri" pitchFamily="34" charset="0"/>
                <a:ea typeface="Calibri" pitchFamily="34" charset="-122"/>
                <a:cs typeface="Calibri" pitchFamily="34" charset="-120"/>
              </a:rPr>
              <a:t>por viaje entre unidades de negocio; 2,664 a 2,705 kg entre propósitos. Las diferencias de totales siguen el número de viajes.</a:t>
            </a:r>
            <a:endParaRPr lang="en-US" sz="1800" dirty="0"/>
          </a:p>
        </p:txBody>
      </p:sp>
      <p:sp>
        <p:nvSpPr>
          <p:cNvPr id="9" name="Shape 7"/>
          <p:cNvSpPr/>
          <p:nvPr/>
        </p:nvSpPr>
        <p:spPr>
          <a:xfrm>
            <a:off x="4297680" y="1463040"/>
            <a:ext cx="3566160" cy="4480560"/>
          </a:xfrm>
          <a:prstGeom prst="roundRect">
            <a:avLst>
              <a:gd name="adj" fmla="val 3077"/>
            </a:avLst>
          </a:prstGeom>
          <a:solidFill>
            <a:srgbClr val="F3F8F8"/>
          </a:solidFill>
          <a:ln w="12700">
            <a:solidFill>
              <a:srgbClr val="F3F8F8"/>
            </a:solidFill>
            <a:prstDash val="solid"/>
          </a:ln>
        </p:spPr>
        <p:txBody>
          <a:bodyPr/>
          <a:lstStyle/>
          <a:p>
            <a:endParaRPr lang="es-ES_tradnl"/>
          </a:p>
        </p:txBody>
      </p:sp>
      <p:sp>
        <p:nvSpPr>
          <p:cNvPr id="10" name="Shape 8"/>
          <p:cNvSpPr/>
          <p:nvPr/>
        </p:nvSpPr>
        <p:spPr>
          <a:xfrm>
            <a:off x="4572000" y="1691640"/>
            <a:ext cx="640080" cy="640080"/>
          </a:xfrm>
          <a:prstGeom prst="ellipse">
            <a:avLst/>
          </a:prstGeom>
          <a:solidFill>
            <a:srgbClr val="1F8A8A"/>
          </a:solidFill>
          <a:ln w="12700">
            <a:solidFill>
              <a:srgbClr val="1F8A8A"/>
            </a:solidFill>
            <a:prstDash val="solid"/>
          </a:ln>
        </p:spPr>
        <p:txBody>
          <a:bodyPr/>
          <a:lstStyle/>
          <a:p>
            <a:endParaRPr lang="es-ES_tradnl"/>
          </a:p>
        </p:txBody>
      </p:sp>
      <p:sp>
        <p:nvSpPr>
          <p:cNvPr id="11" name="Text 9"/>
          <p:cNvSpPr txBox="1"/>
          <p:nvPr/>
        </p:nvSpPr>
        <p:spPr>
          <a:xfrm>
            <a:off x="4572000" y="1691640"/>
            <a:ext cx="64008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Q6</a:t>
            </a:r>
            <a:endParaRPr lang="en-US" sz="1700" dirty="0"/>
          </a:p>
        </p:txBody>
      </p:sp>
      <p:sp>
        <p:nvSpPr>
          <p:cNvPr id="12" name="Text 10"/>
          <p:cNvSpPr txBox="1"/>
          <p:nvPr/>
        </p:nvSpPr>
        <p:spPr>
          <a:xfrm>
            <a:off x="5349240" y="1691640"/>
            <a:ext cx="2377440" cy="640080"/>
          </a:xfrm>
          <a:prstGeom prst="rect">
            <a:avLst/>
          </a:prstGeom>
          <a:noFill/>
          <a:ln/>
        </p:spPr>
        <p:txBody>
          <a:bodyPr wrap="square" lIns="0" tIns="0" rIns="0" bIns="0" rtlCol="0" anchor="ctr"/>
          <a:lstStyle/>
          <a:p>
            <a:pPr marL="0" indent="0">
              <a:buNone/>
            </a:pPr>
            <a:r>
              <a:rPr lang="en-US" sz="1800" b="1" dirty="0">
                <a:solidFill>
                  <a:srgbClr val="12343B"/>
                </a:solidFill>
                <a:latin typeface="Cambria" pitchFamily="34" charset="0"/>
                <a:ea typeface="Cambria" pitchFamily="34" charset="-122"/>
                <a:cs typeface="Cambria" pitchFamily="34" charset="-120"/>
              </a:rPr>
              <a:t>Desviaciones del proceso</a:t>
            </a:r>
            <a:endParaRPr lang="en-US" sz="1800" dirty="0"/>
          </a:p>
        </p:txBody>
      </p:sp>
      <p:sp>
        <p:nvSpPr>
          <p:cNvPr id="13" name="Text 11"/>
          <p:cNvSpPr txBox="1"/>
          <p:nvPr/>
        </p:nvSpPr>
        <p:spPr>
          <a:xfrm>
            <a:off x="4572000" y="2651760"/>
            <a:ext cx="3108960" cy="822960"/>
          </a:xfrm>
          <a:prstGeom prst="rect">
            <a:avLst/>
          </a:prstGeom>
          <a:noFill/>
          <a:ln/>
        </p:spPr>
        <p:txBody>
          <a:bodyPr wrap="square" lIns="0" tIns="0" rIns="0" bIns="0" rtlCol="0" anchor="ctr"/>
          <a:lstStyle/>
          <a:p>
            <a:pPr marL="0" indent="0">
              <a:buNone/>
            </a:pPr>
            <a:r>
              <a:rPr lang="en-US" sz="3000" b="1" dirty="0">
                <a:solidFill>
                  <a:srgbClr val="E8912D"/>
                </a:solidFill>
                <a:latin typeface="Cambria" pitchFamily="34" charset="0"/>
                <a:ea typeface="Cambria" pitchFamily="34" charset="-122"/>
                <a:cs typeface="Cambria" pitchFamily="34" charset="-120"/>
              </a:rPr>
              <a:t>2,661 vs 2,690 kg</a:t>
            </a:r>
            <a:endParaRPr lang="en-US" sz="3000" dirty="0"/>
          </a:p>
        </p:txBody>
      </p:sp>
      <p:sp>
        <p:nvSpPr>
          <p:cNvPr id="14" name="Text 12"/>
          <p:cNvSpPr txBox="1"/>
          <p:nvPr/>
        </p:nvSpPr>
        <p:spPr>
          <a:xfrm>
            <a:off x="4572000" y="3611880"/>
            <a:ext cx="3108960" cy="2194560"/>
          </a:xfrm>
          <a:prstGeom prst="rect">
            <a:avLst/>
          </a:prstGeom>
          <a:noFill/>
          <a:ln/>
        </p:spPr>
        <p:txBody>
          <a:bodyPr wrap="square" lIns="0" tIns="0" rIns="0" bIns="0" rtlCol="0" anchor="t"/>
          <a:lstStyle/>
          <a:p>
            <a:pPr marL="0" indent="0">
              <a:buNone/>
            </a:pPr>
            <a:r>
              <a:rPr lang="en-US" sz="1800" dirty="0">
                <a:solidFill>
                  <a:srgbClr val="1B2B2E"/>
                </a:solidFill>
                <a:latin typeface="Calibri" pitchFamily="34" charset="0"/>
                <a:ea typeface="Calibri" pitchFamily="34" charset="-122"/>
                <a:cs typeface="Calibri" pitchFamily="34" charset="-120"/>
              </a:rPr>
              <a:t>por viaje con desviación (33,399 viajes) y sin desviación (53,654). Los viajes con desviaciones no emiten más en promedio.</a:t>
            </a:r>
            <a:endParaRPr lang="en-US" sz="1800" dirty="0"/>
          </a:p>
        </p:txBody>
      </p:sp>
      <p:sp>
        <p:nvSpPr>
          <p:cNvPr id="15" name="Shape 13"/>
          <p:cNvSpPr/>
          <p:nvPr/>
        </p:nvSpPr>
        <p:spPr>
          <a:xfrm>
            <a:off x="8046720" y="1463040"/>
            <a:ext cx="3566160" cy="4480560"/>
          </a:xfrm>
          <a:prstGeom prst="roundRect">
            <a:avLst>
              <a:gd name="adj" fmla="val 3077"/>
            </a:avLst>
          </a:prstGeom>
          <a:solidFill>
            <a:srgbClr val="F3F8F8"/>
          </a:solidFill>
          <a:ln w="12700">
            <a:solidFill>
              <a:srgbClr val="F3F8F8"/>
            </a:solidFill>
            <a:prstDash val="solid"/>
          </a:ln>
        </p:spPr>
        <p:txBody>
          <a:bodyPr/>
          <a:lstStyle/>
          <a:p>
            <a:endParaRPr lang="es-ES_tradnl"/>
          </a:p>
        </p:txBody>
      </p:sp>
      <p:sp>
        <p:nvSpPr>
          <p:cNvPr id="16" name="Shape 14"/>
          <p:cNvSpPr/>
          <p:nvPr/>
        </p:nvSpPr>
        <p:spPr>
          <a:xfrm>
            <a:off x="8321040" y="1691640"/>
            <a:ext cx="640080" cy="640080"/>
          </a:xfrm>
          <a:prstGeom prst="ellipse">
            <a:avLst/>
          </a:prstGeom>
          <a:solidFill>
            <a:srgbClr val="1F8A8A"/>
          </a:solidFill>
          <a:ln w="12700">
            <a:solidFill>
              <a:srgbClr val="1F8A8A"/>
            </a:solidFill>
            <a:prstDash val="solid"/>
          </a:ln>
        </p:spPr>
        <p:txBody>
          <a:bodyPr/>
          <a:lstStyle/>
          <a:p>
            <a:endParaRPr lang="es-ES_tradnl"/>
          </a:p>
        </p:txBody>
      </p:sp>
      <p:sp>
        <p:nvSpPr>
          <p:cNvPr id="17" name="Text 15"/>
          <p:cNvSpPr txBox="1"/>
          <p:nvPr/>
        </p:nvSpPr>
        <p:spPr>
          <a:xfrm>
            <a:off x="8321040" y="1691640"/>
            <a:ext cx="64008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Q7</a:t>
            </a:r>
            <a:endParaRPr lang="en-US" sz="1700" dirty="0"/>
          </a:p>
        </p:txBody>
      </p:sp>
      <p:sp>
        <p:nvSpPr>
          <p:cNvPr id="18" name="Text 16"/>
          <p:cNvSpPr txBox="1"/>
          <p:nvPr/>
        </p:nvSpPr>
        <p:spPr>
          <a:xfrm>
            <a:off x="9098280" y="1691640"/>
            <a:ext cx="2377440" cy="640080"/>
          </a:xfrm>
          <a:prstGeom prst="rect">
            <a:avLst/>
          </a:prstGeom>
          <a:noFill/>
          <a:ln/>
        </p:spPr>
        <p:txBody>
          <a:bodyPr wrap="square" lIns="0" tIns="0" rIns="0" bIns="0" rtlCol="0" anchor="ctr"/>
          <a:lstStyle/>
          <a:p>
            <a:pPr marL="0" indent="0">
              <a:buNone/>
            </a:pPr>
            <a:r>
              <a:rPr lang="en-US" sz="1800" b="1" dirty="0">
                <a:solidFill>
                  <a:srgbClr val="12343B"/>
                </a:solidFill>
                <a:latin typeface="Cambria" pitchFamily="34" charset="0"/>
                <a:ea typeface="Cambria" pitchFamily="34" charset="-122"/>
                <a:cs typeface="Cambria" pitchFamily="34" charset="-120"/>
              </a:rPr>
              <a:t>Spend_CO2e</a:t>
            </a:r>
            <a:endParaRPr lang="en-US" sz="1800" dirty="0"/>
          </a:p>
        </p:txBody>
      </p:sp>
      <p:sp>
        <p:nvSpPr>
          <p:cNvPr id="19" name="Text 17"/>
          <p:cNvSpPr txBox="1"/>
          <p:nvPr/>
        </p:nvSpPr>
        <p:spPr>
          <a:xfrm>
            <a:off x="8321040" y="2651760"/>
            <a:ext cx="3108960" cy="822960"/>
          </a:xfrm>
          <a:prstGeom prst="rect">
            <a:avLst/>
          </a:prstGeom>
          <a:noFill/>
          <a:ln/>
        </p:spPr>
        <p:txBody>
          <a:bodyPr wrap="square" lIns="0" tIns="0" rIns="0" bIns="0" rtlCol="0" anchor="ctr"/>
          <a:lstStyle/>
          <a:p>
            <a:pPr marL="0" indent="0">
              <a:buNone/>
            </a:pPr>
            <a:r>
              <a:rPr lang="en-US" sz="3000" b="1" dirty="0">
                <a:solidFill>
                  <a:srgbClr val="E8912D"/>
                </a:solidFill>
                <a:latin typeface="Cambria" pitchFamily="34" charset="0"/>
                <a:ea typeface="Cambria" pitchFamily="34" charset="-122"/>
                <a:cs typeface="Cambria" pitchFamily="34" charset="-120"/>
              </a:rPr>
              <a:t>0.8378</a:t>
            </a:r>
            <a:endParaRPr lang="en-US" sz="3000" dirty="0"/>
          </a:p>
        </p:txBody>
      </p:sp>
      <p:sp>
        <p:nvSpPr>
          <p:cNvPr id="20" name="Text 18"/>
          <p:cNvSpPr txBox="1"/>
          <p:nvPr/>
        </p:nvSpPr>
        <p:spPr>
          <a:xfrm>
            <a:off x="8321040" y="3611880"/>
            <a:ext cx="3108960" cy="2194560"/>
          </a:xfrm>
          <a:prstGeom prst="rect">
            <a:avLst/>
          </a:prstGeom>
          <a:noFill/>
          <a:ln/>
        </p:spPr>
        <p:txBody>
          <a:bodyPr wrap="square" lIns="0" tIns="0" rIns="0" bIns="0" rtlCol="0" anchor="t"/>
          <a:lstStyle/>
          <a:p>
            <a:pPr marL="0" indent="0">
              <a:buNone/>
            </a:pPr>
            <a:r>
              <a:rPr lang="en-US" sz="1800" dirty="0">
                <a:solidFill>
                  <a:srgbClr val="1B2B2E"/>
                </a:solidFill>
                <a:latin typeface="Calibri" pitchFamily="34" charset="0"/>
                <a:ea typeface="Calibri" pitchFamily="34" charset="-122"/>
                <a:cs typeface="Calibri" pitchFamily="34" charset="-120"/>
              </a:rPr>
              <a:t>razón entre el estimado por gasto y el cálculo real. Cambia por modo: economy 0.59, business 0.99, first 1.96 y tren 0.27.</a:t>
            </a:r>
            <a:endParaRPr lang="en-US" sz="1800" dirty="0"/>
          </a:p>
        </p:txBody>
      </p:sp>
      <p:sp>
        <p:nvSpPr>
          <p:cNvPr id="21" name="Text 19"/>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22" name="Text 20"/>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2900" b="1" dirty="0">
                <a:solidFill>
                  <a:srgbClr val="12343B"/>
                </a:solidFill>
                <a:latin typeface="Cambria" pitchFamily="34" charset="0"/>
                <a:ea typeface="Cambria" pitchFamily="34" charset="-122"/>
                <a:cs typeface="Cambria" pitchFamily="34" charset="-120"/>
              </a:rPr>
              <a:t>Ocho preguntas conectadas con los tres pilares</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526280"/>
        </p:xfrm>
        <a:graphic>
          <a:graphicData uri="http://schemas.openxmlformats.org/drawingml/2006/table">
            <a:tbl>
              <a:tblPr/>
              <a:tblGrid>
                <a:gridCol w="73152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029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Pregunta</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Pilar</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12343B"/>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Huella de carbono total del programa</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P3</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Eficiencia de carbono por región</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P3</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Quick wins de rutas y modos de transporte</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P1</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Viajes OutOfPolicy y emisiones</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P1, P2</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extLst>
                  <a:ext uri="{0D108BD9-81ED-4DB2-BD59-A6C34878D82A}">
                    <a16:rowId xmlns:a16="http://schemas.microsoft.com/office/drawing/2014/main" val="10004"/>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Unidades de negocio y propósitos con más emisiones</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P1</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Variantes del proceso, cancelaciones y cambios</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P1, P2</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extLst>
                  <a:ext uri="{0D108BD9-81ED-4DB2-BD59-A6C34878D82A}">
                    <a16:rowId xmlns:a16="http://schemas.microsoft.com/office/drawing/2014/main" val="10006"/>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Confiabilidad de Spend_CO2e (propia)</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P3</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r>
                        <a:rPr lang="en-US" sz="1500" b="1" dirty="0">
                          <a:solidFill>
                            <a:srgbClr val="1F8A8A"/>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dirty="0">
                          <a:solidFill>
                            <a:srgbClr val="1B2B2E"/>
                          </a:solidFill>
                          <a:latin typeface="Calibri" pitchFamily="34" charset="0"/>
                          <a:ea typeface="Calibri" pitchFamily="34" charset="-122"/>
                          <a:cs typeface="Calibri" pitchFamily="34" charset="-120"/>
                        </a:rPr>
                        <a:t>Aprobación y automatización de validaciones (propia)</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tc>
                  <a:txBody>
                    <a:bodyPr/>
                    <a:lstStyle/>
                    <a:p>
                      <a:pPr marL="0" indent="0">
                        <a:buNone/>
                      </a:pPr>
                      <a:r>
                        <a:rPr lang="en-US" sz="1500" b="1" dirty="0">
                          <a:solidFill>
                            <a:srgbClr val="1B2B2E"/>
                          </a:solidFill>
                          <a:latin typeface="Calibri" pitchFamily="34" charset="0"/>
                          <a:ea typeface="Calibri" pitchFamily="34" charset="-122"/>
                          <a:cs typeface="Calibri" pitchFamily="34" charset="-120"/>
                        </a:rPr>
                        <a:t>P2</a:t>
                      </a:r>
                      <a:endParaRPr lang="en-US" sz="1500" dirty="0">
                        <a:latin typeface="Calibri" charset="0"/>
                        <a:ea typeface="Calibri" charset="0"/>
                        <a:cs typeface="Calibri" charset="0"/>
                      </a:endParaRPr>
                    </a:p>
                  </a:txBody>
                  <a:tcPr anchor="ctr">
                    <a:lnL w="9525" cap="flat" cmpd="sng" algn="ctr">
                      <a:solidFill>
                        <a:srgbClr val="C9D9D9"/>
                      </a:solidFill>
                      <a:prstDash val="solid"/>
                      <a:round/>
                      <a:headEnd type="none" w="med" len="med"/>
                      <a:tailEnd type="none" w="med" len="med"/>
                    </a:lnL>
                    <a:lnR w="9525" cap="flat" cmpd="sng" algn="ctr">
                      <a:solidFill>
                        <a:srgbClr val="C9D9D9"/>
                      </a:solidFill>
                      <a:prstDash val="solid"/>
                      <a:round/>
                      <a:headEnd type="none" w="med" len="med"/>
                      <a:tailEnd type="none" w="med" len="med"/>
                    </a:lnR>
                    <a:lnT w="9525" cap="flat" cmpd="sng" algn="ctr">
                      <a:solidFill>
                        <a:srgbClr val="C9D9D9"/>
                      </a:solidFill>
                      <a:prstDash val="solid"/>
                      <a:round/>
                      <a:headEnd type="none" w="med" len="med"/>
                      <a:tailEnd type="none" w="med" len="med"/>
                    </a:lnT>
                    <a:lnB w="9525" cap="flat" cmpd="sng" algn="ctr">
                      <a:solidFill>
                        <a:srgbClr val="C9D9D9"/>
                      </a:solidFill>
                      <a:prstDash val="solid"/>
                      <a:round/>
                      <a:headEnd type="none" w="med" len="med"/>
                      <a:tailEnd type="none" w="med" len="med"/>
                    </a:lnB>
                    <a:solidFill>
                      <a:srgbClr val="F3F8F8"/>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5D7175"/>
                </a:solidFill>
                <a:latin typeface="Calibri" pitchFamily="34" charset="0"/>
                <a:ea typeface="Calibri" pitchFamily="34" charset="-122"/>
                <a:cs typeface="Calibri" pitchFamily="34" charset="-120"/>
              </a:rPr>
              <a:t>IF-6201 | Avance 1</a:t>
            </a:r>
            <a:endParaRPr lang="en-US" sz="1000" dirty="0"/>
          </a:p>
        </p:txBody>
      </p:sp>
      <p:sp>
        <p:nvSpPr>
          <p:cNvPr id="5"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D717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2322</Words>
  <Application>Microsoft Macintosh PowerPoint</Application>
  <PresentationFormat>Widescreen</PresentationFormat>
  <Paragraphs>191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1 - Comprensión y preparación del proyecto</dc:title>
  <dc:subject>PptxGenJS Presentation</dc:subject>
  <dc:creator>IF-6201</dc:creator>
  <cp:lastModifiedBy>ALEJANDRO ARIAS ROJAS</cp:lastModifiedBy>
  <cp:revision>3</cp:revision>
  <dcterms:created xsi:type="dcterms:W3CDTF">2026-09-20T03:57:02Z</dcterms:created>
  <dcterms:modified xsi:type="dcterms:W3CDTF">2026-09-20T18:08:15Z</dcterms:modified>
</cp:coreProperties>
</file>